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7.jpeg"/><Relationship Id="rId7" Type="http://schemas.openxmlformats.org/officeDocument/2006/relationships/image" Target="../media/image6.jpeg"/><Relationship Id="rId6" Type="http://schemas.openxmlformats.org/officeDocument/2006/relationships/image" Target="../media/image5.jpeg"/><Relationship Id="rId5" Type="http://schemas.openxmlformats.org/officeDocument/2006/relationships/tags" Target="../tags/tag1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0" Type="http://schemas.openxmlformats.org/officeDocument/2006/relationships/notesSlide" Target="../notesSlides/notesSlide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8.jpeg"/><Relationship Id="rId6" Type="http://schemas.openxmlformats.org/officeDocument/2006/relationships/image" Target="../media/image5.jpeg"/><Relationship Id="rId5" Type="http://schemas.openxmlformats.org/officeDocument/2006/relationships/tags" Target="../tags/tag2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image" Target="../media/image9.png"/><Relationship Id="rId4" Type="http://schemas.openxmlformats.org/officeDocument/2006/relationships/tags" Target="../tags/tag3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5" Type="http://schemas.openxmlformats.org/officeDocument/2006/relationships/notesSlide" Target="../notesSlides/notesSlide3.xml"/><Relationship Id="rId14" Type="http://schemas.openxmlformats.org/officeDocument/2006/relationships/slideLayout" Target="../slideLayouts/slideLayout12.xml"/><Relationship Id="rId13" Type="http://schemas.openxmlformats.org/officeDocument/2006/relationships/image" Target="../media/image10.png"/><Relationship Id="rId12" Type="http://schemas.openxmlformats.org/officeDocument/2006/relationships/tags" Target="../tags/tag10.xml"/><Relationship Id="rId11" Type="http://schemas.openxmlformats.org/officeDocument/2006/relationships/tags" Target="../tags/tag9.xml"/><Relationship Id="rId10" Type="http://schemas.openxmlformats.org/officeDocument/2006/relationships/tags" Target="../tags/tag8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15.xml"/><Relationship Id="rId8" Type="http://schemas.openxmlformats.org/officeDocument/2006/relationships/tags" Target="../tags/tag14.xml"/><Relationship Id="rId7" Type="http://schemas.openxmlformats.org/officeDocument/2006/relationships/tags" Target="../tags/tag13.xml"/><Relationship Id="rId6" Type="http://schemas.openxmlformats.org/officeDocument/2006/relationships/tags" Target="../tags/tag12.xml"/><Relationship Id="rId5" Type="http://schemas.openxmlformats.org/officeDocument/2006/relationships/image" Target="../media/image9.png"/><Relationship Id="rId4" Type="http://schemas.openxmlformats.org/officeDocument/2006/relationships/tags" Target="../tags/tag11.xml"/><Relationship Id="rId3" Type="http://schemas.openxmlformats.org/officeDocument/2006/relationships/image" Target="../media/image3.png"/><Relationship Id="rId22" Type="http://schemas.openxmlformats.org/officeDocument/2006/relationships/notesSlide" Target="../notesSlides/notesSlide4.xml"/><Relationship Id="rId21" Type="http://schemas.openxmlformats.org/officeDocument/2006/relationships/slideLayout" Target="../slideLayouts/slideLayout12.xml"/><Relationship Id="rId20" Type="http://schemas.openxmlformats.org/officeDocument/2006/relationships/tags" Target="../tags/tag26.xml"/><Relationship Id="rId2" Type="http://schemas.openxmlformats.org/officeDocument/2006/relationships/image" Target="../media/image2.png"/><Relationship Id="rId19" Type="http://schemas.openxmlformats.org/officeDocument/2006/relationships/tags" Target="../tags/tag25.xml"/><Relationship Id="rId18" Type="http://schemas.openxmlformats.org/officeDocument/2006/relationships/tags" Target="../tags/tag24.xml"/><Relationship Id="rId17" Type="http://schemas.openxmlformats.org/officeDocument/2006/relationships/tags" Target="../tags/tag23.xml"/><Relationship Id="rId16" Type="http://schemas.openxmlformats.org/officeDocument/2006/relationships/tags" Target="../tags/tag22.xml"/><Relationship Id="rId15" Type="http://schemas.openxmlformats.org/officeDocument/2006/relationships/tags" Target="../tags/tag21.xml"/><Relationship Id="rId14" Type="http://schemas.openxmlformats.org/officeDocument/2006/relationships/tags" Target="../tags/tag20.xml"/><Relationship Id="rId13" Type="http://schemas.openxmlformats.org/officeDocument/2006/relationships/tags" Target="../tags/tag19.xml"/><Relationship Id="rId12" Type="http://schemas.openxmlformats.org/officeDocument/2006/relationships/tags" Target="../tags/tag18.xml"/><Relationship Id="rId11" Type="http://schemas.openxmlformats.org/officeDocument/2006/relationships/tags" Target="../tags/tag17.xml"/><Relationship Id="rId10" Type="http://schemas.openxmlformats.org/officeDocument/2006/relationships/tags" Target="../tags/tag16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31.xml"/><Relationship Id="rId8" Type="http://schemas.openxmlformats.org/officeDocument/2006/relationships/tags" Target="../tags/tag30.xml"/><Relationship Id="rId7" Type="http://schemas.openxmlformats.org/officeDocument/2006/relationships/tags" Target="../tags/tag29.xml"/><Relationship Id="rId6" Type="http://schemas.openxmlformats.org/officeDocument/2006/relationships/tags" Target="../tags/tag28.xml"/><Relationship Id="rId5" Type="http://schemas.openxmlformats.org/officeDocument/2006/relationships/image" Target="../media/image9.png"/><Relationship Id="rId4" Type="http://schemas.openxmlformats.org/officeDocument/2006/relationships/tags" Target="../tags/tag27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5" Type="http://schemas.openxmlformats.org/officeDocument/2006/relationships/notesSlide" Target="../notesSlides/notesSlide5.xml"/><Relationship Id="rId14" Type="http://schemas.openxmlformats.org/officeDocument/2006/relationships/slideLayout" Target="../slideLayouts/slideLayout12.xml"/><Relationship Id="rId13" Type="http://schemas.openxmlformats.org/officeDocument/2006/relationships/image" Target="../media/image8.jpeg"/><Relationship Id="rId12" Type="http://schemas.openxmlformats.org/officeDocument/2006/relationships/tags" Target="../tags/tag34.xml"/><Relationship Id="rId11" Type="http://schemas.openxmlformats.org/officeDocument/2006/relationships/tags" Target="../tags/tag33.xml"/><Relationship Id="rId10" Type="http://schemas.openxmlformats.org/officeDocument/2006/relationships/tags" Target="../tags/tag32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39.xml"/><Relationship Id="rId8" Type="http://schemas.openxmlformats.org/officeDocument/2006/relationships/tags" Target="../tags/tag38.xml"/><Relationship Id="rId7" Type="http://schemas.openxmlformats.org/officeDocument/2006/relationships/tags" Target="../tags/tag37.xml"/><Relationship Id="rId6" Type="http://schemas.openxmlformats.org/officeDocument/2006/relationships/tags" Target="../tags/tag36.xml"/><Relationship Id="rId5" Type="http://schemas.openxmlformats.org/officeDocument/2006/relationships/image" Target="../media/image9.png"/><Relationship Id="rId4" Type="http://schemas.openxmlformats.org/officeDocument/2006/relationships/tags" Target="../tags/tag35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5" Type="http://schemas.openxmlformats.org/officeDocument/2006/relationships/notesSlide" Target="../notesSlides/notesSlide6.xml"/><Relationship Id="rId14" Type="http://schemas.openxmlformats.org/officeDocument/2006/relationships/slideLayout" Target="../slideLayouts/slideLayout12.xml"/><Relationship Id="rId13" Type="http://schemas.openxmlformats.org/officeDocument/2006/relationships/image" Target="../media/image8.jpeg"/><Relationship Id="rId12" Type="http://schemas.openxmlformats.org/officeDocument/2006/relationships/tags" Target="../tags/tag42.xml"/><Relationship Id="rId11" Type="http://schemas.openxmlformats.org/officeDocument/2006/relationships/tags" Target="../tags/tag41.xml"/><Relationship Id="rId10" Type="http://schemas.openxmlformats.org/officeDocument/2006/relationships/tags" Target="../tags/tag40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8.jpeg"/><Relationship Id="rId8" Type="http://schemas.openxmlformats.org/officeDocument/2006/relationships/tags" Target="../tags/tag46.xml"/><Relationship Id="rId7" Type="http://schemas.openxmlformats.org/officeDocument/2006/relationships/tags" Target="../tags/tag45.xml"/><Relationship Id="rId6" Type="http://schemas.openxmlformats.org/officeDocument/2006/relationships/tags" Target="../tags/tag44.xml"/><Relationship Id="rId5" Type="http://schemas.openxmlformats.org/officeDocument/2006/relationships/image" Target="../media/image9.png"/><Relationship Id="rId4" Type="http://schemas.openxmlformats.org/officeDocument/2006/relationships/tags" Target="../tags/tag43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1" Type="http://schemas.openxmlformats.org/officeDocument/2006/relationships/notesSlide" Target="../notesSlides/notesSlide7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51.xml"/><Relationship Id="rId8" Type="http://schemas.openxmlformats.org/officeDocument/2006/relationships/tags" Target="../tags/tag50.xml"/><Relationship Id="rId7" Type="http://schemas.openxmlformats.org/officeDocument/2006/relationships/tags" Target="../tags/tag49.xml"/><Relationship Id="rId6" Type="http://schemas.openxmlformats.org/officeDocument/2006/relationships/tags" Target="../tags/tag48.xml"/><Relationship Id="rId5" Type="http://schemas.openxmlformats.org/officeDocument/2006/relationships/image" Target="../media/image9.png"/><Relationship Id="rId4" Type="http://schemas.openxmlformats.org/officeDocument/2006/relationships/tags" Target="../tags/tag47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5" Type="http://schemas.openxmlformats.org/officeDocument/2006/relationships/notesSlide" Target="../notesSlides/notesSlide8.xml"/><Relationship Id="rId14" Type="http://schemas.openxmlformats.org/officeDocument/2006/relationships/slideLayout" Target="../slideLayouts/slideLayout12.xml"/><Relationship Id="rId13" Type="http://schemas.openxmlformats.org/officeDocument/2006/relationships/image" Target="../media/image8.jpeg"/><Relationship Id="rId12" Type="http://schemas.openxmlformats.org/officeDocument/2006/relationships/tags" Target="../tags/tag54.xml"/><Relationship Id="rId11" Type="http://schemas.openxmlformats.org/officeDocument/2006/relationships/tags" Target="../tags/tag53.xml"/><Relationship Id="rId10" Type="http://schemas.openxmlformats.org/officeDocument/2006/relationships/tags" Target="../tags/tag52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9.xml"/><Relationship Id="rId8" Type="http://schemas.openxmlformats.org/officeDocument/2006/relationships/slideLayout" Target="../slideLayouts/slideLayout12.xml"/><Relationship Id="rId7" Type="http://schemas.openxmlformats.org/officeDocument/2006/relationships/tags" Target="../tags/tag57.xml"/><Relationship Id="rId6" Type="http://schemas.openxmlformats.org/officeDocument/2006/relationships/tags" Target="../tags/tag56.xml"/><Relationship Id="rId5" Type="http://schemas.openxmlformats.org/officeDocument/2006/relationships/image" Target="../media/image9.png"/><Relationship Id="rId4" Type="http://schemas.openxmlformats.org/officeDocument/2006/relationships/tags" Target="../tags/tag55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28600"/>
            <a:ext cx="76200" cy="4572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3075" y="782746"/>
            <a:ext cx="3748650" cy="4920397"/>
          </a:xfrm>
          <a:prstGeom prst="rect">
            <a:avLst/>
          </a:prstGeom>
        </p:spPr>
      </p:pic>
      <p:sp>
        <p:nvSpPr>
          <p:cNvPr id="14" name="Text 0"/>
          <p:cNvSpPr/>
          <p:nvPr/>
        </p:nvSpPr>
        <p:spPr>
          <a:xfrm>
            <a:off x="838200" y="266700"/>
            <a:ext cx="384048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字母A </a:t>
            </a:r>
            <a:endParaRPr lang="en-US" sz="2700" dirty="0"/>
          </a:p>
        </p:txBody>
      </p:sp>
      <p:sp>
        <p:nvSpPr>
          <p:cNvPr id="15" name="Text 1"/>
          <p:cNvSpPr/>
          <p:nvPr>
            <p:custDataLst>
              <p:tags r:id="rId5"/>
            </p:custDataLst>
          </p:nvPr>
        </p:nvSpPr>
        <p:spPr>
          <a:xfrm>
            <a:off x="1219200" y="2266950"/>
            <a:ext cx="6160135" cy="2667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zh-CN" altLang="en-US" sz="60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字母</a:t>
            </a:r>
            <a:r>
              <a:rPr lang="en-US" altLang="zh-CN" sz="60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A -         -</a:t>
            </a:r>
            <a:r>
              <a:rPr lang="zh-CN" altLang="en-US" sz="60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鹰</a:t>
            </a:r>
            <a:endParaRPr lang="zh-CN" altLang="en-US" sz="6000" b="1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lnSpc>
                <a:spcPts val="2100"/>
              </a:lnSpc>
              <a:buNone/>
            </a:pPr>
            <a:endParaRPr lang="zh-CN" altLang="en-US" sz="60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 7"/>
          <p:cNvSpPr/>
          <p:nvPr/>
        </p:nvSpPr>
        <p:spPr>
          <a:xfrm>
            <a:off x="6665595" y="5351780"/>
            <a:ext cx="627888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zh-CN" altLang="en-US" sz="1200">
                <a:sym typeface="+mn-ea"/>
              </a:rPr>
              <a:t>古埃及第一王朝，上面的</a:t>
            </a:r>
            <a:r>
              <a:rPr lang="en-US" altLang="zh-CN" sz="1200">
                <a:sym typeface="+mn-ea"/>
              </a:rPr>
              <a:t>          </a:t>
            </a:r>
            <a:r>
              <a:rPr lang="zh-CN" altLang="en-US" sz="1200">
                <a:sym typeface="+mn-ea"/>
              </a:rPr>
              <a:t>是字母</a:t>
            </a:r>
            <a:r>
              <a:rPr lang="en-US" altLang="zh-CN" sz="1200">
                <a:sym typeface="+mn-ea"/>
              </a:rPr>
              <a:t>A</a:t>
            </a:r>
            <a:r>
              <a:rPr lang="zh-CN" altLang="en-US" sz="1200">
                <a:sym typeface="+mn-ea"/>
              </a:rPr>
              <a:t>最早的源头。</a:t>
            </a:r>
            <a:endParaRPr lang="zh-CN" altLang="en-US" sz="1200"/>
          </a:p>
          <a:p>
            <a:pPr marL="0" indent="0" algn="ctr">
              <a:lnSpc>
                <a:spcPts val="1800"/>
              </a:lnSpc>
              <a:buNone/>
            </a:pPr>
            <a:endParaRPr lang="en-US" sz="1200" dirty="0"/>
          </a:p>
        </p:txBody>
      </p:sp>
      <p:pic>
        <p:nvPicPr>
          <p:cNvPr id="2414" name="图片 3" descr="a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50715" y="1304925"/>
            <a:ext cx="962025" cy="962025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文本框 23"/>
          <p:cNvSpPr txBox="1"/>
          <p:nvPr/>
        </p:nvSpPr>
        <p:spPr>
          <a:xfrm>
            <a:off x="516255" y="3779520"/>
            <a:ext cx="1670685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4000" b="1">
                <a:sym typeface="+mn-ea"/>
              </a:rPr>
              <a:t>字母</a:t>
            </a:r>
            <a:r>
              <a:rPr lang="en-US" altLang="zh-CN" sz="4000" b="1">
                <a:sym typeface="+mn-ea"/>
              </a:rPr>
              <a:t>A- </a:t>
            </a:r>
            <a:endParaRPr lang="en-US" altLang="zh-CN" sz="4000" b="1">
              <a:sym typeface="+mn-ea"/>
            </a:endParaRPr>
          </a:p>
        </p:txBody>
      </p:sp>
      <p:pic>
        <p:nvPicPr>
          <p:cNvPr id="25" name="图片 3" descr="a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86940" y="3779520"/>
            <a:ext cx="782320" cy="782320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左大括号 25"/>
          <p:cNvSpPr/>
          <p:nvPr/>
        </p:nvSpPr>
        <p:spPr>
          <a:xfrm>
            <a:off x="3044190" y="3061335"/>
            <a:ext cx="760095" cy="2142490"/>
          </a:xfrm>
          <a:prstGeom prst="leftBrace">
            <a:avLst/>
          </a:prstGeom>
          <a:ln w="2857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/>
        </p:nvSpPr>
        <p:spPr>
          <a:xfrm>
            <a:off x="3788410" y="2859405"/>
            <a:ext cx="2615565" cy="4260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4000" b="1">
                <a:sym typeface="+mn-ea"/>
              </a:rPr>
              <a:t>1. A-</a:t>
            </a:r>
            <a:r>
              <a:rPr lang="zh-CN" altLang="en-US" sz="4000" b="1">
                <a:sym typeface="+mn-ea"/>
              </a:rPr>
              <a:t>鹰</a:t>
            </a:r>
            <a:endParaRPr lang="en-US" altLang="zh-CN" sz="4000"/>
          </a:p>
        </p:txBody>
      </p:sp>
      <p:sp>
        <p:nvSpPr>
          <p:cNvPr id="28" name="文本框 27"/>
          <p:cNvSpPr txBox="1"/>
          <p:nvPr/>
        </p:nvSpPr>
        <p:spPr>
          <a:xfrm>
            <a:off x="3808095" y="4789170"/>
            <a:ext cx="2681605" cy="41465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4000" b="1">
                <a:sym typeface="+mn-ea"/>
              </a:rPr>
              <a:t>2. A-</a:t>
            </a:r>
            <a:r>
              <a:rPr lang="zh-CN" altLang="en-US" sz="4000" b="1">
                <a:sym typeface="+mn-ea"/>
              </a:rPr>
              <a:t>高空</a:t>
            </a:r>
            <a:endParaRPr lang="zh-CN" altLang="en-US" sz="4000" b="1">
              <a:sym typeface="+mn-ea"/>
            </a:endParaRPr>
          </a:p>
        </p:txBody>
      </p:sp>
      <p:pic>
        <p:nvPicPr>
          <p:cNvPr id="1981" name="图片 1981" descr="蛇王碑"/>
          <p:cNvPicPr>
            <a:picLocks noChangeAspect="1"/>
          </p:cNvPicPr>
          <p:nvPr/>
        </p:nvPicPr>
        <p:blipFill>
          <a:blip r:embed="rId7"/>
          <a:srcRect l="5088" r="62361"/>
          <a:stretch>
            <a:fillRect/>
          </a:stretch>
        </p:blipFill>
        <p:spPr>
          <a:xfrm>
            <a:off x="8217535" y="1128395"/>
            <a:ext cx="2679065" cy="4105275"/>
          </a:xfrm>
          <a:prstGeom prst="rect">
            <a:avLst/>
          </a:prstGeom>
        </p:spPr>
      </p:pic>
      <p:pic>
        <p:nvPicPr>
          <p:cNvPr id="29" name="图片 3" descr="a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54870" y="5246370"/>
            <a:ext cx="315595" cy="31559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图片 29" descr="8A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57240" y="3192145"/>
            <a:ext cx="1690370" cy="16903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9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6" grpId="0" bldLvl="0" animBg="1"/>
      <p:bldP spid="27" grpId="0"/>
      <p:bldP spid="2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28600"/>
            <a:ext cx="76200" cy="4572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7340" y="999916"/>
            <a:ext cx="3748650" cy="4920397"/>
          </a:xfrm>
          <a:prstGeom prst="rect">
            <a:avLst/>
          </a:prstGeom>
        </p:spPr>
      </p:pic>
      <p:sp>
        <p:nvSpPr>
          <p:cNvPr id="14" name="Text 0"/>
          <p:cNvSpPr/>
          <p:nvPr/>
        </p:nvSpPr>
        <p:spPr>
          <a:xfrm>
            <a:off x="838200" y="266700"/>
            <a:ext cx="384048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字母A</a:t>
            </a:r>
            <a:endParaRPr lang="en-US" sz="2700" dirty="0"/>
          </a:p>
        </p:txBody>
      </p:sp>
      <p:sp>
        <p:nvSpPr>
          <p:cNvPr id="15" name="Text 1"/>
          <p:cNvSpPr/>
          <p:nvPr>
            <p:custDataLst>
              <p:tags r:id="rId5"/>
            </p:custDataLst>
          </p:nvPr>
        </p:nvSpPr>
        <p:spPr>
          <a:xfrm>
            <a:off x="767080" y="1991995"/>
            <a:ext cx="61976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zh-CN" altLang="en-US" sz="60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字母</a:t>
            </a:r>
            <a:r>
              <a:rPr lang="en-US" altLang="zh-CN" sz="60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A -         -</a:t>
            </a:r>
            <a:r>
              <a:rPr lang="zh-CN" altLang="en-US" sz="60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鹰</a:t>
            </a:r>
            <a:endParaRPr lang="zh-CN" altLang="en-US" sz="4000" b="1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lnSpc>
                <a:spcPts val="2100"/>
              </a:lnSpc>
              <a:buNone/>
            </a:pPr>
            <a:endParaRPr lang="zh-CN" altLang="en-US" sz="40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 7"/>
          <p:cNvSpPr/>
          <p:nvPr/>
        </p:nvSpPr>
        <p:spPr>
          <a:xfrm>
            <a:off x="7964805" y="5338445"/>
            <a:ext cx="288544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zh-CN" altLang="en-US" sz="1200">
                <a:latin typeface="华文楷体" panose="02010600040101010101" charset="-122"/>
                <a:ea typeface="华文楷体" panose="02010600040101010101" charset="-122"/>
                <a:sym typeface="+mn-ea"/>
              </a:rPr>
              <a:t>展翅飞翔是鸟类最典型的特征</a:t>
            </a:r>
            <a:r>
              <a:rPr lang="en-US" altLang="zh-CN" sz="1200">
                <a:latin typeface="华文楷体" panose="02010600040101010101" charset="-122"/>
                <a:ea typeface="华文楷体" panose="02010600040101010101" charset="-122"/>
                <a:sym typeface="+mn-ea"/>
              </a:rPr>
              <a:t>,</a:t>
            </a:r>
            <a:r>
              <a:rPr lang="zh-CN" altLang="en-US" sz="1200">
                <a:latin typeface="华文楷体" panose="02010600040101010101" charset="-122"/>
                <a:ea typeface="华文楷体" panose="02010600040101010101" charset="-122"/>
                <a:sym typeface="+mn-ea"/>
              </a:rPr>
              <a:t>雄鹰展开双翅扑向猎物</a:t>
            </a:r>
            <a:endParaRPr lang="zh-CN" altLang="en-US" sz="1200"/>
          </a:p>
          <a:p>
            <a:pPr marL="0" indent="0" algn="ctr">
              <a:lnSpc>
                <a:spcPts val="1800"/>
              </a:lnSpc>
              <a:buNone/>
            </a:pPr>
            <a:endParaRPr lang="en-US" sz="1200" dirty="0"/>
          </a:p>
        </p:txBody>
      </p:sp>
      <p:pic>
        <p:nvPicPr>
          <p:cNvPr id="2414" name="图片 3" descr="a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25290" y="977900"/>
            <a:ext cx="962025" cy="96202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文本框 4"/>
          <p:cNvSpPr txBox="1"/>
          <p:nvPr/>
        </p:nvSpPr>
        <p:spPr>
          <a:xfrm>
            <a:off x="685800" y="2254250"/>
            <a:ext cx="6104255" cy="436880"/>
          </a:xfrm>
          <a:prstGeom prst="rect">
            <a:avLst/>
          </a:prstGeom>
        </p:spPr>
        <p:txBody>
          <a:bodyPr>
            <a:noAutofit/>
          </a:bodyPr>
          <a:p>
            <a:pPr marL="0" indent="0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4000" b="1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词根</a:t>
            </a:r>
            <a:r>
              <a:rPr lang="en-US" altLang="zh-CN" sz="4000" b="1" i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av</a:t>
            </a:r>
            <a:r>
              <a:rPr lang="en-US" altLang="zh-CN" sz="4000" b="1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-“</a:t>
            </a:r>
            <a:r>
              <a:rPr lang="zh-CN" altLang="en-US" sz="4000" b="1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飞行；鸟；渴望”</a:t>
            </a:r>
            <a:endParaRPr lang="zh-CN" altLang="en-US" sz="4000" b="1" i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85800" y="3175635"/>
            <a:ext cx="6130290" cy="11176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000" b="1"/>
              <a:t>     </a:t>
            </a:r>
            <a:r>
              <a:rPr lang="zh-CN" altLang="en-US" sz="1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词根</a:t>
            </a:r>
            <a:r>
              <a:rPr lang="en-US" altLang="zh-CN" sz="14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av</a:t>
            </a:r>
            <a:r>
              <a:rPr lang="en-US" altLang="zh-CN" sz="1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，即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A-       “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鹰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”+V“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展翅状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表示“飞行”。</a:t>
            </a:r>
            <a:endParaRPr lang="zh-CN" altLang="en-US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696" name="图片 3121" descr="鹰Av-"/>
          <p:cNvPicPr>
            <a:picLocks noChangeAspect="1"/>
          </p:cNvPicPr>
          <p:nvPr/>
        </p:nvPicPr>
        <p:blipFill>
          <a:blip r:embed="rId7"/>
          <a:srcRect r="50000"/>
          <a:stretch>
            <a:fillRect/>
          </a:stretch>
        </p:blipFill>
        <p:spPr>
          <a:xfrm>
            <a:off x="7713345" y="1579245"/>
            <a:ext cx="3388995" cy="3409315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文本框 6"/>
          <p:cNvSpPr txBox="1"/>
          <p:nvPr/>
        </p:nvSpPr>
        <p:spPr>
          <a:xfrm>
            <a:off x="572135" y="4591685"/>
            <a:ext cx="1340485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600" b="1">
                <a:sym typeface="+mn-ea"/>
              </a:rPr>
              <a:t>词根</a:t>
            </a:r>
            <a:r>
              <a:rPr lang="en-US" altLang="zh-CN" sz="3600" b="1">
                <a:solidFill>
                  <a:srgbClr val="FF0000"/>
                </a:solidFill>
                <a:sym typeface="+mn-ea"/>
              </a:rPr>
              <a:t>av</a:t>
            </a:r>
            <a:r>
              <a:rPr lang="en-US" altLang="zh-CN" sz="3600" b="1">
                <a:sym typeface="+mn-ea"/>
              </a:rPr>
              <a:t>-</a:t>
            </a:r>
            <a:endParaRPr lang="en-US" altLang="zh-CN" sz="3600" b="1">
              <a:sym typeface="+mn-ea"/>
            </a:endParaRPr>
          </a:p>
        </p:txBody>
      </p:sp>
      <p:sp>
        <p:nvSpPr>
          <p:cNvPr id="8" name="左大括号 7"/>
          <p:cNvSpPr/>
          <p:nvPr/>
        </p:nvSpPr>
        <p:spPr>
          <a:xfrm>
            <a:off x="2094230" y="4297680"/>
            <a:ext cx="530860" cy="1787525"/>
          </a:xfrm>
          <a:prstGeom prst="leftBrac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3131820" y="4090670"/>
            <a:ext cx="206057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</a:t>
            </a:r>
            <a:r>
              <a:rPr lang="en-US" altLang="zh-CN" sz="3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3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飞行</a:t>
            </a:r>
            <a:endParaRPr lang="zh-CN" altLang="en-US" sz="36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3131820" y="4989830"/>
            <a:ext cx="170497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②</a:t>
            </a:r>
            <a:r>
              <a:rPr lang="en-US" altLang="zh-CN" sz="3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3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鸟</a:t>
            </a:r>
            <a:endParaRPr lang="zh-CN" altLang="en-US" sz="36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3131820" y="5888990"/>
            <a:ext cx="4812665" cy="42354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3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③</a:t>
            </a:r>
            <a:r>
              <a:rPr lang="en-US" altLang="zh-CN" sz="3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3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渴望；渴求；贪婪</a:t>
            </a:r>
            <a:endParaRPr lang="zh-CN" altLang="en-US" sz="36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bldLvl="0" animBg="1"/>
      <p:bldP spid="16" grpId="0"/>
      <p:bldP spid="17" grpId="0"/>
      <p:bldP spid="1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28600"/>
            <a:ext cx="76200" cy="457200"/>
          </a:xfrm>
          <a:prstGeom prst="rect">
            <a:avLst/>
          </a:prstGeom>
        </p:spPr>
      </p:pic>
      <p:sp>
        <p:nvSpPr>
          <p:cNvPr id="14" name="Text 0"/>
          <p:cNvSpPr/>
          <p:nvPr/>
        </p:nvSpPr>
        <p:spPr>
          <a:xfrm>
            <a:off x="838200" y="266700"/>
            <a:ext cx="384048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字母A</a:t>
            </a:r>
            <a:endParaRPr lang="en-US" sz="2700" dirty="0"/>
          </a:p>
        </p:txBody>
      </p:sp>
      <p:pic>
        <p:nvPicPr>
          <p:cNvPr id="24" name="Image 3" descr="preencoded.pn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5039360" y="981710"/>
            <a:ext cx="6485890" cy="2613660"/>
          </a:xfrm>
          <a:prstGeom prst="rect">
            <a:avLst/>
          </a:prstGeom>
        </p:spPr>
      </p:pic>
      <p:pic>
        <p:nvPicPr>
          <p:cNvPr id="26" name="Image 3" descr="preencoded.png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5039360" y="3794125"/>
            <a:ext cx="6485890" cy="2613660"/>
          </a:xfrm>
          <a:prstGeom prst="rect">
            <a:avLst/>
          </a:prstGeom>
        </p:spPr>
      </p:pic>
      <p:sp>
        <p:nvSpPr>
          <p:cNvPr id="28" name="文本框 27"/>
          <p:cNvSpPr txBox="1"/>
          <p:nvPr>
            <p:custDataLst>
              <p:tags r:id="rId7"/>
            </p:custDataLst>
          </p:nvPr>
        </p:nvSpPr>
        <p:spPr>
          <a:xfrm>
            <a:off x="5562600" y="2483485"/>
            <a:ext cx="603631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200" i="1">
                <a:sym typeface="+mn-ea"/>
              </a:rPr>
              <a:t>即</a:t>
            </a:r>
            <a:r>
              <a:rPr lang="en-US" altLang="zh-CN" sz="3200" i="1">
                <a:solidFill>
                  <a:srgbClr val="FF0000"/>
                </a:solidFill>
                <a:sym typeface="+mn-ea"/>
              </a:rPr>
              <a:t>av</a:t>
            </a:r>
            <a:r>
              <a:rPr lang="en-US" altLang="zh-CN" sz="3200" i="1">
                <a:sym typeface="+mn-ea"/>
              </a:rPr>
              <a:t> “</a:t>
            </a:r>
            <a:r>
              <a:rPr lang="zh-CN" altLang="en-US" sz="3200" i="1">
                <a:sym typeface="+mn-ea"/>
              </a:rPr>
              <a:t>飞行</a:t>
            </a:r>
            <a:r>
              <a:rPr lang="en-US" altLang="zh-CN" sz="3200" i="1">
                <a:sym typeface="+mn-ea"/>
              </a:rPr>
              <a:t>”+i+ate</a:t>
            </a:r>
            <a:r>
              <a:rPr lang="zh-CN" altLang="en-US" sz="3200" i="1">
                <a:sym typeface="+mn-ea"/>
              </a:rPr>
              <a:t>动词后缀</a:t>
            </a:r>
            <a:endParaRPr lang="zh-CN" altLang="en-US" sz="3200" i="1">
              <a:sym typeface="+mn-ea"/>
            </a:endParaRPr>
          </a:p>
        </p:txBody>
      </p:sp>
      <p:sp>
        <p:nvSpPr>
          <p:cNvPr id="29" name="文本框 28"/>
          <p:cNvSpPr txBox="1"/>
          <p:nvPr>
            <p:custDataLst>
              <p:tags r:id="rId8"/>
            </p:custDataLst>
          </p:nvPr>
        </p:nvSpPr>
        <p:spPr>
          <a:xfrm>
            <a:off x="5340350" y="1184275"/>
            <a:ext cx="4138930" cy="1014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6000" b="1">
                <a:solidFill>
                  <a:srgbClr val="FF0000"/>
                </a:solidFill>
                <a:sym typeface="+mn-ea"/>
              </a:rPr>
              <a:t>aviate</a:t>
            </a:r>
            <a:r>
              <a:rPr lang="en-US" altLang="zh-CN" sz="6000">
                <a:sym typeface="+mn-ea"/>
              </a:rPr>
              <a:t> </a:t>
            </a:r>
            <a:r>
              <a:rPr lang="en-US" altLang="zh-CN" sz="3600">
                <a:sym typeface="+mn-ea"/>
              </a:rPr>
              <a:t>/</a:t>
            </a:r>
            <a:r>
              <a:rPr lang="en-US" altLang="en-US" sz="3600">
                <a:sym typeface="+mn-ea"/>
              </a:rPr>
              <a:t>ˈ</a:t>
            </a:r>
            <a:r>
              <a:rPr lang="en-US" altLang="zh-CN" sz="3600">
                <a:sym typeface="+mn-ea"/>
              </a:rPr>
              <a:t>e</a:t>
            </a:r>
            <a:r>
              <a:rPr lang="en-US" altLang="en-US" sz="3600">
                <a:sym typeface="+mn-ea"/>
              </a:rPr>
              <a:t>ɪ</a:t>
            </a:r>
            <a:r>
              <a:rPr lang="en-US" altLang="zh-CN" sz="3600">
                <a:sym typeface="+mn-ea"/>
              </a:rPr>
              <a:t>v</a:t>
            </a:r>
            <a:r>
              <a:rPr lang="en-US" altLang="en-US" sz="3600">
                <a:sym typeface="+mn-ea"/>
              </a:rPr>
              <a:t>ɪˌ</a:t>
            </a:r>
            <a:r>
              <a:rPr lang="en-US" altLang="zh-CN" sz="3600">
                <a:sym typeface="+mn-ea"/>
              </a:rPr>
              <a:t>e</a:t>
            </a:r>
            <a:r>
              <a:rPr lang="en-US" altLang="en-US" sz="3600">
                <a:sym typeface="+mn-ea"/>
              </a:rPr>
              <a:t>ɪ</a:t>
            </a:r>
            <a:r>
              <a:rPr lang="en-US" altLang="zh-CN" sz="3600">
                <a:sym typeface="+mn-ea"/>
              </a:rPr>
              <a:t>t/</a:t>
            </a:r>
            <a:endParaRPr lang="zh-CN" altLang="en-US" sz="3600">
              <a:sym typeface="+mn-ea"/>
            </a:endParaRPr>
          </a:p>
        </p:txBody>
      </p:sp>
      <p:sp>
        <p:nvSpPr>
          <p:cNvPr id="30" name="文本框 29"/>
          <p:cNvSpPr txBox="1"/>
          <p:nvPr>
            <p:custDataLst>
              <p:tags r:id="rId9"/>
            </p:custDataLst>
          </p:nvPr>
        </p:nvSpPr>
        <p:spPr>
          <a:xfrm>
            <a:off x="9672320" y="1455420"/>
            <a:ext cx="214249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3600" b="1">
                <a:sym typeface="+mn-ea"/>
              </a:rPr>
              <a:t>v.</a:t>
            </a:r>
            <a:r>
              <a:rPr lang="zh-CN" altLang="en-US" sz="3600" b="1">
                <a:sym typeface="+mn-ea"/>
              </a:rPr>
              <a:t>飞行。</a:t>
            </a:r>
            <a:endParaRPr lang="zh-CN" altLang="en-US" sz="3600" b="1">
              <a:sym typeface="+mn-ea"/>
            </a:endParaRPr>
          </a:p>
        </p:txBody>
      </p:sp>
      <p:sp>
        <p:nvSpPr>
          <p:cNvPr id="31" name="文本框 30"/>
          <p:cNvSpPr txBox="1"/>
          <p:nvPr>
            <p:custDataLst>
              <p:tags r:id="rId10"/>
            </p:custDataLst>
          </p:nvPr>
        </p:nvSpPr>
        <p:spPr>
          <a:xfrm>
            <a:off x="5340350" y="3929380"/>
            <a:ext cx="4933315" cy="1014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6000" b="1">
                <a:solidFill>
                  <a:srgbClr val="FF0000"/>
                </a:solidFill>
                <a:sym typeface="+mn-ea"/>
              </a:rPr>
              <a:t>aviation</a:t>
            </a:r>
            <a:r>
              <a:rPr lang="en-US" altLang="zh-CN" sz="3600">
                <a:sym typeface="+mn-ea"/>
              </a:rPr>
              <a:t> /</a:t>
            </a:r>
            <a:r>
              <a:rPr lang="en-US" altLang="en-US" sz="3600">
                <a:sym typeface="+mn-ea"/>
              </a:rPr>
              <a:t>ˌ</a:t>
            </a:r>
            <a:r>
              <a:rPr lang="en-US" altLang="zh-CN" sz="3600">
                <a:sym typeface="+mn-ea"/>
              </a:rPr>
              <a:t>e</a:t>
            </a:r>
            <a:r>
              <a:rPr lang="en-US" altLang="en-US" sz="3600">
                <a:sym typeface="+mn-ea"/>
              </a:rPr>
              <a:t>ɪ</a:t>
            </a:r>
            <a:r>
              <a:rPr lang="en-US" altLang="zh-CN" sz="3600">
                <a:sym typeface="+mn-ea"/>
              </a:rPr>
              <a:t>vi</a:t>
            </a:r>
            <a:r>
              <a:rPr lang="en-US" altLang="en-US" sz="3600">
                <a:sym typeface="+mn-ea"/>
              </a:rPr>
              <a:t>ˈ</a:t>
            </a:r>
            <a:r>
              <a:rPr lang="en-US" altLang="zh-CN" sz="3600">
                <a:sym typeface="+mn-ea"/>
              </a:rPr>
              <a:t>e</a:t>
            </a:r>
            <a:r>
              <a:rPr lang="en-US" altLang="en-US" sz="3600">
                <a:sym typeface="+mn-ea"/>
              </a:rPr>
              <a:t>ɪʃ</a:t>
            </a:r>
            <a:r>
              <a:rPr lang="en-US" altLang="zh-CN" sz="3600">
                <a:sym typeface="+mn-ea"/>
              </a:rPr>
              <a:t>n/</a:t>
            </a:r>
            <a:endParaRPr lang="zh-CN" altLang="en-US" sz="3600">
              <a:sym typeface="+mn-ea"/>
            </a:endParaRPr>
          </a:p>
        </p:txBody>
      </p:sp>
      <p:sp>
        <p:nvSpPr>
          <p:cNvPr id="32" name="文本框 31"/>
          <p:cNvSpPr txBox="1"/>
          <p:nvPr>
            <p:custDataLst>
              <p:tags r:id="rId11"/>
            </p:custDataLst>
          </p:nvPr>
        </p:nvSpPr>
        <p:spPr>
          <a:xfrm>
            <a:off x="5438775" y="4902835"/>
            <a:ext cx="483489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3200" b="1">
                <a:sym typeface="+mn-ea"/>
              </a:rPr>
              <a:t>n.</a:t>
            </a:r>
            <a:r>
              <a:rPr lang="zh-CN" altLang="en-US" sz="3200" b="1">
                <a:sym typeface="+mn-ea"/>
              </a:rPr>
              <a:t>航空；飞机制造业</a:t>
            </a:r>
            <a:r>
              <a:rPr lang="zh-CN" altLang="en-US" sz="3600">
                <a:sym typeface="+mn-ea"/>
              </a:rPr>
              <a:t>。</a:t>
            </a:r>
            <a:endParaRPr lang="zh-CN" altLang="en-US" sz="3600">
              <a:sym typeface="+mn-ea"/>
            </a:endParaRPr>
          </a:p>
        </p:txBody>
      </p:sp>
      <p:sp>
        <p:nvSpPr>
          <p:cNvPr id="33" name="文本框 32"/>
          <p:cNvSpPr txBox="1"/>
          <p:nvPr>
            <p:custDataLst>
              <p:tags r:id="rId12"/>
            </p:custDataLst>
          </p:nvPr>
        </p:nvSpPr>
        <p:spPr>
          <a:xfrm>
            <a:off x="5286375" y="5650230"/>
            <a:ext cx="641413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200" i="1">
                <a:sym typeface="+mn-ea"/>
              </a:rPr>
              <a:t>即</a:t>
            </a:r>
            <a:r>
              <a:rPr lang="en-US" altLang="zh-CN" sz="3200" i="1">
                <a:solidFill>
                  <a:srgbClr val="FF0000"/>
                </a:solidFill>
                <a:sym typeface="+mn-ea"/>
              </a:rPr>
              <a:t>aviat(e)</a:t>
            </a:r>
            <a:r>
              <a:rPr lang="en-US" altLang="zh-CN" sz="3200" i="1">
                <a:sym typeface="+mn-ea"/>
              </a:rPr>
              <a:t> “</a:t>
            </a:r>
            <a:r>
              <a:rPr lang="zh-CN" altLang="en-US" sz="3200" i="1">
                <a:sym typeface="+mn-ea"/>
              </a:rPr>
              <a:t>飞行</a:t>
            </a:r>
            <a:r>
              <a:rPr lang="en-US" altLang="zh-CN" sz="3200" i="1">
                <a:sym typeface="+mn-ea"/>
              </a:rPr>
              <a:t>”+ion</a:t>
            </a:r>
            <a:r>
              <a:rPr lang="zh-CN" altLang="en-US" sz="3200" i="1">
                <a:sym typeface="+mn-ea"/>
              </a:rPr>
              <a:t>名词后缀</a:t>
            </a:r>
            <a:endParaRPr lang="zh-CN" altLang="en-US" sz="3200" i="1">
              <a:sym typeface="+mn-ea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352425" y="1214120"/>
            <a:ext cx="6104255" cy="436880"/>
          </a:xfrm>
          <a:prstGeom prst="rect">
            <a:avLst/>
          </a:prstGeom>
        </p:spPr>
        <p:txBody>
          <a:bodyPr>
            <a:noAutofit/>
          </a:bodyPr>
          <a:p>
            <a:pPr marL="0" indent="0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6000" b="1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词根</a:t>
            </a:r>
            <a:r>
              <a:rPr lang="en-US" altLang="zh-CN" sz="6000" b="1" i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av</a:t>
            </a:r>
            <a:r>
              <a:rPr lang="en-US" altLang="zh-CN" sz="6000" b="1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zh-CN" altLang="en-US" sz="6000" b="1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飞行</a:t>
            </a:r>
            <a:endParaRPr lang="zh-CN" altLang="en-US" sz="6000" b="1" i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5" name="图片 3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58470" y="2825115"/>
            <a:ext cx="4299585" cy="26149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28" grpId="0"/>
      <p:bldP spid="30" grpId="0"/>
      <p:bldP spid="31" grpId="0"/>
      <p:bldP spid="33" grpId="0"/>
      <p:bldP spid="3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28600"/>
            <a:ext cx="76200" cy="457200"/>
          </a:xfrm>
          <a:prstGeom prst="rect">
            <a:avLst/>
          </a:prstGeom>
        </p:spPr>
      </p:pic>
      <p:sp>
        <p:nvSpPr>
          <p:cNvPr id="14" name="Text 0"/>
          <p:cNvSpPr/>
          <p:nvPr/>
        </p:nvSpPr>
        <p:spPr>
          <a:xfrm>
            <a:off x="838200" y="266700"/>
            <a:ext cx="384048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字母A</a:t>
            </a:r>
            <a:endParaRPr lang="en-US" sz="2700" dirty="0"/>
          </a:p>
        </p:txBody>
      </p:sp>
      <p:pic>
        <p:nvPicPr>
          <p:cNvPr id="24" name="Image 3" descr="preencoded.pn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6225993" y="609600"/>
            <a:ext cx="5291181" cy="2132220"/>
          </a:xfrm>
          <a:prstGeom prst="rect">
            <a:avLst/>
          </a:prstGeom>
        </p:spPr>
      </p:pic>
      <p:sp>
        <p:nvSpPr>
          <p:cNvPr id="28" name="文本框 27"/>
          <p:cNvSpPr txBox="1"/>
          <p:nvPr>
            <p:custDataLst>
              <p:tags r:id="rId6"/>
            </p:custDataLst>
          </p:nvPr>
        </p:nvSpPr>
        <p:spPr>
          <a:xfrm>
            <a:off x="6551887" y="2034136"/>
            <a:ext cx="4924414" cy="9531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800">
                <a:sym typeface="+mn-ea"/>
              </a:rPr>
              <a:t>即</a:t>
            </a:r>
            <a:r>
              <a:rPr lang="en-US" altLang="zh-CN" sz="2800">
                <a:solidFill>
                  <a:srgbClr val="FF0000"/>
                </a:solidFill>
                <a:sym typeface="+mn-ea"/>
              </a:rPr>
              <a:t>aviat(e)</a:t>
            </a:r>
            <a:r>
              <a:rPr lang="en-US" altLang="zh-CN" sz="2800">
                <a:sym typeface="+mn-ea"/>
              </a:rPr>
              <a:t> “</a:t>
            </a:r>
            <a:r>
              <a:rPr lang="zh-CN" altLang="en-US" sz="2800">
                <a:sym typeface="+mn-ea"/>
              </a:rPr>
              <a:t>飞行</a:t>
            </a:r>
            <a:r>
              <a:rPr lang="en-US" altLang="zh-CN" sz="2800">
                <a:sym typeface="+mn-ea"/>
              </a:rPr>
              <a:t>”+or</a:t>
            </a:r>
            <a:r>
              <a:rPr lang="zh-CN" altLang="en-US" sz="2800">
                <a:sym typeface="+mn-ea"/>
              </a:rPr>
              <a:t>表人</a:t>
            </a:r>
            <a:endParaRPr lang="zh-CN" altLang="en-US" sz="2800"/>
          </a:p>
          <a:p>
            <a:endParaRPr lang="zh-CN" altLang="en-US" sz="2800" i="1">
              <a:sym typeface="+mn-ea"/>
            </a:endParaRPr>
          </a:p>
        </p:txBody>
      </p:sp>
      <p:sp>
        <p:nvSpPr>
          <p:cNvPr id="29" name="文本框 28"/>
          <p:cNvSpPr txBox="1"/>
          <p:nvPr>
            <p:custDataLst>
              <p:tags r:id="rId7"/>
            </p:custDataLst>
          </p:nvPr>
        </p:nvSpPr>
        <p:spPr>
          <a:xfrm>
            <a:off x="6471541" y="668807"/>
            <a:ext cx="3376534" cy="1014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6000" b="1">
                <a:solidFill>
                  <a:srgbClr val="FF0000"/>
                </a:solidFill>
                <a:sym typeface="+mn-ea"/>
              </a:rPr>
              <a:t>aviator</a:t>
            </a:r>
            <a:r>
              <a:rPr lang="en-US" altLang="zh-CN" sz="6000">
                <a:sym typeface="+mn-ea"/>
              </a:rPr>
              <a:t> </a:t>
            </a:r>
            <a:endParaRPr lang="zh-CN" altLang="en-US" sz="3600">
              <a:sym typeface="+mn-ea"/>
            </a:endParaRPr>
          </a:p>
        </p:txBody>
      </p:sp>
      <p:sp>
        <p:nvSpPr>
          <p:cNvPr id="30" name="文本框 29"/>
          <p:cNvSpPr txBox="1"/>
          <p:nvPr>
            <p:custDataLst>
              <p:tags r:id="rId8"/>
            </p:custDataLst>
          </p:nvPr>
        </p:nvSpPr>
        <p:spPr>
          <a:xfrm>
            <a:off x="6551791" y="1534532"/>
            <a:ext cx="1747841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3200" b="1">
                <a:sym typeface="+mn-ea"/>
              </a:rPr>
              <a:t>n.</a:t>
            </a:r>
            <a:r>
              <a:rPr lang="zh-CN" altLang="en-US" sz="3200" b="1">
                <a:sym typeface="+mn-ea"/>
              </a:rPr>
              <a:t>飞行</a:t>
            </a:r>
            <a:r>
              <a:rPr lang="zh-CN" altLang="en-US" sz="3200" b="1">
                <a:sym typeface="+mn-ea"/>
              </a:rPr>
              <a:t>员。</a:t>
            </a:r>
            <a:endParaRPr lang="zh-CN" altLang="en-US" sz="3200" b="1">
              <a:sym typeface="+mn-ea"/>
            </a:endParaRPr>
          </a:p>
        </p:txBody>
      </p:sp>
      <p:sp>
        <p:nvSpPr>
          <p:cNvPr id="5" name="文本框 4"/>
          <p:cNvSpPr txBox="1"/>
          <p:nvPr>
            <p:custDataLst>
              <p:tags r:id="rId9"/>
            </p:custDataLst>
          </p:nvPr>
        </p:nvSpPr>
        <p:spPr>
          <a:xfrm>
            <a:off x="9332595" y="1088390"/>
            <a:ext cx="153289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000">
                <a:sym typeface="+mn-ea"/>
              </a:rPr>
              <a:t>/</a:t>
            </a:r>
            <a:r>
              <a:rPr lang="en-US" altLang="en-US" sz="2000">
                <a:sym typeface="+mn-ea"/>
              </a:rPr>
              <a:t>ˈ</a:t>
            </a:r>
            <a:r>
              <a:rPr lang="en-US" altLang="zh-CN" sz="2000">
                <a:sym typeface="+mn-ea"/>
              </a:rPr>
              <a:t>e</a:t>
            </a:r>
            <a:r>
              <a:rPr lang="en-US" altLang="en-US" sz="2000">
                <a:sym typeface="+mn-ea"/>
              </a:rPr>
              <a:t>ɪ</a:t>
            </a:r>
            <a:r>
              <a:rPr lang="en-US" altLang="zh-CN" sz="2000">
                <a:sym typeface="+mn-ea"/>
              </a:rPr>
              <a:t>vie</a:t>
            </a:r>
            <a:r>
              <a:rPr lang="en-US" altLang="en-US" sz="2000">
                <a:sym typeface="+mn-ea"/>
              </a:rPr>
              <a:t>ɪ</a:t>
            </a:r>
            <a:r>
              <a:rPr lang="en-US" altLang="zh-CN" sz="2000">
                <a:sym typeface="+mn-ea"/>
              </a:rPr>
              <a:t>t</a:t>
            </a:r>
            <a:r>
              <a:rPr lang="en-US" altLang="en-US" sz="2000">
                <a:sym typeface="+mn-ea"/>
              </a:rPr>
              <a:t>ə</a:t>
            </a:r>
            <a:r>
              <a:rPr lang="en-US" altLang="zh-CN" sz="2000">
                <a:sym typeface="+mn-ea"/>
              </a:rPr>
              <a:t>(r)/</a:t>
            </a:r>
            <a:endParaRPr lang="en-US" altLang="zh-CN" sz="2000">
              <a:sym typeface="+mn-ea"/>
            </a:endParaRPr>
          </a:p>
        </p:txBody>
      </p:sp>
      <p:pic>
        <p:nvPicPr>
          <p:cNvPr id="6" name="Image 3" descr="preencoded.png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666568" y="3263900"/>
            <a:ext cx="5291181" cy="2132220"/>
          </a:xfrm>
          <a:prstGeom prst="rect">
            <a:avLst/>
          </a:prstGeom>
        </p:spPr>
      </p:pic>
      <p:sp>
        <p:nvSpPr>
          <p:cNvPr id="7" name="文本框 6"/>
          <p:cNvSpPr txBox="1"/>
          <p:nvPr>
            <p:custDataLst>
              <p:tags r:id="rId11"/>
            </p:custDataLst>
          </p:nvPr>
        </p:nvSpPr>
        <p:spPr>
          <a:xfrm>
            <a:off x="790575" y="4747895"/>
            <a:ext cx="5387340" cy="4914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600">
                <a:sym typeface="+mn-ea"/>
              </a:rPr>
              <a:t>即</a:t>
            </a:r>
            <a:r>
              <a:rPr lang="en-US" altLang="zh-CN" sz="2600">
                <a:solidFill>
                  <a:srgbClr val="FF0000"/>
                </a:solidFill>
                <a:sym typeface="+mn-ea"/>
              </a:rPr>
              <a:t>aviat</a:t>
            </a:r>
            <a:r>
              <a:rPr lang="zh-CN" altLang="en-US" sz="2600">
                <a:solidFill>
                  <a:srgbClr val="FF0000"/>
                </a:solidFill>
                <a:sym typeface="+mn-ea"/>
              </a:rPr>
              <a:t>（</a:t>
            </a:r>
            <a:r>
              <a:rPr lang="en-US" altLang="zh-CN" sz="2600">
                <a:solidFill>
                  <a:srgbClr val="FF0000"/>
                </a:solidFill>
                <a:sym typeface="+mn-ea"/>
              </a:rPr>
              <a:t>o</a:t>
            </a:r>
            <a:r>
              <a:rPr lang="zh-CN" altLang="en-US" sz="2600">
                <a:solidFill>
                  <a:srgbClr val="FF0000"/>
                </a:solidFill>
                <a:sym typeface="+mn-ea"/>
              </a:rPr>
              <a:t>）</a:t>
            </a:r>
            <a:r>
              <a:rPr lang="en-US" altLang="zh-CN" sz="2600">
                <a:solidFill>
                  <a:srgbClr val="FF0000"/>
                </a:solidFill>
                <a:sym typeface="+mn-ea"/>
              </a:rPr>
              <a:t>r</a:t>
            </a:r>
            <a:r>
              <a:rPr lang="en-US" altLang="zh-CN" sz="2600">
                <a:sym typeface="+mn-ea"/>
              </a:rPr>
              <a:t>“</a:t>
            </a:r>
            <a:r>
              <a:rPr lang="zh-CN" altLang="en-US" sz="2600">
                <a:sym typeface="+mn-ea"/>
              </a:rPr>
              <a:t>飞行员</a:t>
            </a:r>
            <a:r>
              <a:rPr lang="en-US" altLang="zh-CN" sz="2600">
                <a:sym typeface="+mn-ea"/>
              </a:rPr>
              <a:t>”+ess</a:t>
            </a:r>
            <a:r>
              <a:rPr lang="zh-CN" altLang="en-US" sz="2600">
                <a:sym typeface="+mn-ea"/>
              </a:rPr>
              <a:t>表女性</a:t>
            </a:r>
            <a:endParaRPr lang="zh-CN" altLang="en-US" sz="2600" i="1">
              <a:sym typeface="+mn-ea"/>
            </a:endParaRPr>
          </a:p>
        </p:txBody>
      </p:sp>
      <p:sp>
        <p:nvSpPr>
          <p:cNvPr id="8" name="文本框 7"/>
          <p:cNvSpPr txBox="1"/>
          <p:nvPr>
            <p:custDataLst>
              <p:tags r:id="rId12"/>
            </p:custDataLst>
          </p:nvPr>
        </p:nvSpPr>
        <p:spPr>
          <a:xfrm>
            <a:off x="835281" y="3304057"/>
            <a:ext cx="3376534" cy="1014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6000" b="1">
                <a:solidFill>
                  <a:srgbClr val="FF0000"/>
                </a:solidFill>
                <a:sym typeface="+mn-ea"/>
              </a:rPr>
              <a:t>aviatress</a:t>
            </a:r>
            <a:r>
              <a:rPr lang="en-US" altLang="zh-CN" sz="6000">
                <a:sym typeface="+mn-ea"/>
              </a:rPr>
              <a:t> </a:t>
            </a:r>
            <a:endParaRPr lang="zh-CN" altLang="en-US" sz="3600">
              <a:sym typeface="+mn-ea"/>
            </a:endParaRPr>
          </a:p>
        </p:txBody>
      </p:sp>
      <p:sp>
        <p:nvSpPr>
          <p:cNvPr id="9" name="文本框 8"/>
          <p:cNvSpPr txBox="1"/>
          <p:nvPr>
            <p:custDataLst>
              <p:tags r:id="rId13"/>
            </p:custDataLst>
          </p:nvPr>
        </p:nvSpPr>
        <p:spPr>
          <a:xfrm>
            <a:off x="838200" y="4234815"/>
            <a:ext cx="239204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3200" b="1">
                <a:sym typeface="+mn-ea"/>
              </a:rPr>
              <a:t>n.</a:t>
            </a:r>
            <a:r>
              <a:rPr lang="zh-CN" altLang="en-US" sz="3200" b="1">
                <a:sym typeface="+mn-ea"/>
              </a:rPr>
              <a:t>女飞行员</a:t>
            </a:r>
            <a:r>
              <a:rPr lang="zh-CN" altLang="en-US" sz="3200" b="1">
                <a:sym typeface="+mn-ea"/>
              </a:rPr>
              <a:t>。</a:t>
            </a:r>
            <a:endParaRPr lang="zh-CN" altLang="en-US" sz="3200" b="1">
              <a:sym typeface="+mn-ea"/>
            </a:endParaRPr>
          </a:p>
        </p:txBody>
      </p:sp>
      <p:sp>
        <p:nvSpPr>
          <p:cNvPr id="10" name="文本框 9"/>
          <p:cNvSpPr txBox="1"/>
          <p:nvPr>
            <p:custDataLst>
              <p:tags r:id="rId14"/>
            </p:custDataLst>
          </p:nvPr>
        </p:nvSpPr>
        <p:spPr>
          <a:xfrm>
            <a:off x="3959860" y="3742690"/>
            <a:ext cx="155448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000">
                <a:sym typeface="+mn-ea"/>
              </a:rPr>
              <a:t>/</a:t>
            </a:r>
            <a:r>
              <a:rPr lang="en-US" altLang="en-US" sz="2000">
                <a:sym typeface="+mn-ea"/>
              </a:rPr>
              <a:t>ˈ</a:t>
            </a:r>
            <a:r>
              <a:rPr lang="en-US" altLang="zh-CN" sz="2000">
                <a:sym typeface="+mn-ea"/>
              </a:rPr>
              <a:t>e</a:t>
            </a:r>
            <a:r>
              <a:rPr lang="en-US" altLang="en-US" sz="2000">
                <a:sym typeface="+mn-ea"/>
              </a:rPr>
              <a:t>ɪ</a:t>
            </a:r>
            <a:r>
              <a:rPr lang="en-US" altLang="zh-CN" sz="2000">
                <a:sym typeface="+mn-ea"/>
              </a:rPr>
              <a:t>vi</a:t>
            </a:r>
            <a:r>
              <a:rPr lang="en-US" altLang="en-US" sz="2000">
                <a:sym typeface="+mn-ea"/>
              </a:rPr>
              <a:t>ə</a:t>
            </a:r>
            <a:r>
              <a:rPr lang="en-US" altLang="zh-CN" sz="2000">
                <a:sym typeface="+mn-ea"/>
              </a:rPr>
              <a:t>tr</a:t>
            </a:r>
            <a:r>
              <a:rPr lang="en-US" altLang="en-US" sz="2000">
                <a:sym typeface="+mn-ea"/>
              </a:rPr>
              <a:t>ə</a:t>
            </a:r>
            <a:r>
              <a:rPr lang="en-US" altLang="zh-CN" sz="2000">
                <a:sym typeface="+mn-ea"/>
              </a:rPr>
              <a:t>s</a:t>
            </a:r>
            <a:r>
              <a:rPr lang="en-US" altLang="zh-CN" sz="2000">
                <a:sym typeface="+mn-ea"/>
              </a:rPr>
              <a:t>/</a:t>
            </a:r>
            <a:endParaRPr lang="en-US" altLang="zh-CN" sz="2000">
              <a:sym typeface="+mn-ea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6212023" y="3263900"/>
            <a:ext cx="5291181" cy="2132220"/>
          </a:xfrm>
          <a:prstGeom prst="rect">
            <a:avLst/>
          </a:prstGeom>
        </p:spPr>
      </p:pic>
      <p:sp>
        <p:nvSpPr>
          <p:cNvPr id="12" name="文本框 11"/>
          <p:cNvSpPr txBox="1"/>
          <p:nvPr>
            <p:custDataLst>
              <p:tags r:id="rId16"/>
            </p:custDataLst>
          </p:nvPr>
        </p:nvSpPr>
        <p:spPr>
          <a:xfrm>
            <a:off x="6516962" y="4762731"/>
            <a:ext cx="4924414" cy="8915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600">
                <a:sym typeface="+mn-ea"/>
              </a:rPr>
              <a:t>即</a:t>
            </a:r>
            <a:r>
              <a:rPr lang="en-US" altLang="zh-CN" sz="2600">
                <a:solidFill>
                  <a:srgbClr val="FF0000"/>
                </a:solidFill>
                <a:sym typeface="+mn-ea"/>
              </a:rPr>
              <a:t>aviat</a:t>
            </a:r>
            <a:r>
              <a:rPr lang="zh-CN" altLang="en-US" sz="2600">
                <a:solidFill>
                  <a:srgbClr val="FF0000"/>
                </a:solidFill>
                <a:sym typeface="+mn-ea"/>
              </a:rPr>
              <a:t>（</a:t>
            </a:r>
            <a:r>
              <a:rPr lang="en-US" altLang="zh-CN" sz="2600">
                <a:solidFill>
                  <a:srgbClr val="FF0000"/>
                </a:solidFill>
                <a:sym typeface="+mn-ea"/>
              </a:rPr>
              <a:t>o</a:t>
            </a:r>
            <a:r>
              <a:rPr lang="zh-CN" altLang="en-US" sz="2600">
                <a:solidFill>
                  <a:srgbClr val="FF0000"/>
                </a:solidFill>
                <a:sym typeface="+mn-ea"/>
              </a:rPr>
              <a:t>）</a:t>
            </a:r>
            <a:r>
              <a:rPr lang="en-US" altLang="zh-CN" sz="2600">
                <a:solidFill>
                  <a:srgbClr val="FF0000"/>
                </a:solidFill>
                <a:sym typeface="+mn-ea"/>
              </a:rPr>
              <a:t>r</a:t>
            </a:r>
            <a:r>
              <a:rPr lang="en-US" altLang="zh-CN" sz="2600">
                <a:sym typeface="+mn-ea"/>
              </a:rPr>
              <a:t>“</a:t>
            </a:r>
            <a:r>
              <a:rPr lang="zh-CN" altLang="en-US" sz="2600">
                <a:sym typeface="+mn-ea"/>
              </a:rPr>
              <a:t>飞行员</a:t>
            </a:r>
            <a:r>
              <a:rPr lang="en-US" altLang="zh-CN" sz="2600">
                <a:sym typeface="+mn-ea"/>
              </a:rPr>
              <a:t>”+i+x</a:t>
            </a:r>
            <a:r>
              <a:rPr lang="zh-CN" altLang="en-US" sz="2600">
                <a:sym typeface="+mn-ea"/>
              </a:rPr>
              <a:t>表女性</a:t>
            </a:r>
            <a:endParaRPr lang="zh-CN" altLang="en-US" sz="2600">
              <a:sym typeface="+mn-ea"/>
            </a:endParaRPr>
          </a:p>
          <a:p>
            <a:endParaRPr lang="zh-CN" altLang="en-US" sz="2600" i="1">
              <a:sym typeface="+mn-ea"/>
            </a:endParaRPr>
          </a:p>
        </p:txBody>
      </p:sp>
      <p:sp>
        <p:nvSpPr>
          <p:cNvPr id="13" name="文本框 12"/>
          <p:cNvSpPr txBox="1"/>
          <p:nvPr>
            <p:custDataLst>
              <p:tags r:id="rId17"/>
            </p:custDataLst>
          </p:nvPr>
        </p:nvSpPr>
        <p:spPr>
          <a:xfrm>
            <a:off x="6433185" y="3303905"/>
            <a:ext cx="2639060" cy="1014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6000" b="1">
                <a:solidFill>
                  <a:srgbClr val="FF0000"/>
                </a:solidFill>
                <a:sym typeface="+mn-ea"/>
              </a:rPr>
              <a:t>aviatrix</a:t>
            </a:r>
            <a:r>
              <a:rPr lang="en-US" altLang="zh-CN" sz="6000">
                <a:sym typeface="+mn-ea"/>
              </a:rPr>
              <a:t> </a:t>
            </a:r>
            <a:endParaRPr lang="zh-CN" altLang="en-US" sz="3600">
              <a:sym typeface="+mn-ea"/>
            </a:endParaRPr>
          </a:p>
        </p:txBody>
      </p:sp>
      <p:sp>
        <p:nvSpPr>
          <p:cNvPr id="15" name="文本框 14"/>
          <p:cNvSpPr txBox="1"/>
          <p:nvPr>
            <p:custDataLst>
              <p:tags r:id="rId18"/>
            </p:custDataLst>
          </p:nvPr>
        </p:nvSpPr>
        <p:spPr>
          <a:xfrm>
            <a:off x="6517005" y="4234815"/>
            <a:ext cx="255524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3200" b="1">
                <a:sym typeface="+mn-ea"/>
              </a:rPr>
              <a:t>n.</a:t>
            </a:r>
            <a:r>
              <a:rPr lang="zh-CN" altLang="en-US" sz="3200" b="1">
                <a:sym typeface="+mn-ea"/>
              </a:rPr>
              <a:t>女飞行员</a:t>
            </a:r>
            <a:r>
              <a:rPr lang="zh-CN" altLang="en-US" sz="3200" b="1">
                <a:sym typeface="+mn-ea"/>
              </a:rPr>
              <a:t>。</a:t>
            </a:r>
            <a:endParaRPr lang="zh-CN" altLang="en-US" sz="3200" b="1">
              <a:sym typeface="+mn-ea"/>
            </a:endParaRPr>
          </a:p>
        </p:txBody>
      </p:sp>
      <p:sp>
        <p:nvSpPr>
          <p:cNvPr id="16" name="文本框 15"/>
          <p:cNvSpPr txBox="1"/>
          <p:nvPr>
            <p:custDataLst>
              <p:tags r:id="rId19"/>
            </p:custDataLst>
          </p:nvPr>
        </p:nvSpPr>
        <p:spPr>
          <a:xfrm>
            <a:off x="9072245" y="3742690"/>
            <a:ext cx="179832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000">
                <a:sym typeface="+mn-ea"/>
              </a:rPr>
              <a:t>/</a:t>
            </a:r>
            <a:r>
              <a:rPr lang="en-US" altLang="en-US" sz="2000">
                <a:sym typeface="+mn-ea"/>
              </a:rPr>
              <a:t>ˈ</a:t>
            </a:r>
            <a:r>
              <a:rPr lang="en-US" altLang="zh-CN" sz="2000">
                <a:sym typeface="+mn-ea"/>
              </a:rPr>
              <a:t>e</a:t>
            </a:r>
            <a:r>
              <a:rPr lang="en-US" altLang="en-US" sz="2000">
                <a:sym typeface="+mn-ea"/>
              </a:rPr>
              <a:t>ɪ</a:t>
            </a:r>
            <a:r>
              <a:rPr lang="en-US" altLang="zh-CN" sz="2000">
                <a:sym typeface="+mn-ea"/>
              </a:rPr>
              <a:t>v</a:t>
            </a:r>
            <a:r>
              <a:rPr lang="en-US" altLang="en-US" sz="2000">
                <a:sym typeface="+mn-ea"/>
              </a:rPr>
              <a:t>ɪˌ</a:t>
            </a:r>
            <a:r>
              <a:rPr lang="en-US" altLang="zh-CN" sz="2000">
                <a:sym typeface="+mn-ea"/>
              </a:rPr>
              <a:t>e</a:t>
            </a:r>
            <a:r>
              <a:rPr lang="en-US" altLang="en-US" sz="2000">
                <a:sym typeface="+mn-ea"/>
              </a:rPr>
              <a:t>ɪ</a:t>
            </a:r>
            <a:r>
              <a:rPr lang="en-US" altLang="zh-CN" sz="2000">
                <a:sym typeface="+mn-ea"/>
              </a:rPr>
              <a:t>tr</a:t>
            </a:r>
            <a:r>
              <a:rPr lang="en-US" altLang="en-US" sz="2000">
                <a:sym typeface="+mn-ea"/>
              </a:rPr>
              <a:t>ɪ</a:t>
            </a:r>
            <a:r>
              <a:rPr lang="en-US" altLang="zh-CN" sz="2000">
                <a:sym typeface="+mn-ea"/>
              </a:rPr>
              <a:t>ks</a:t>
            </a:r>
            <a:r>
              <a:rPr lang="en-US" altLang="zh-CN" sz="2000">
                <a:sym typeface="+mn-ea"/>
              </a:rPr>
              <a:t>/</a:t>
            </a:r>
            <a:endParaRPr lang="en-US" altLang="zh-CN" sz="2000">
              <a:sym typeface="+mn-ea"/>
            </a:endParaRPr>
          </a:p>
        </p:txBody>
      </p:sp>
      <p:sp>
        <p:nvSpPr>
          <p:cNvPr id="42" name="文本框 41"/>
          <p:cNvSpPr txBox="1"/>
          <p:nvPr>
            <p:custDataLst>
              <p:tags r:id="rId20"/>
            </p:custDataLst>
          </p:nvPr>
        </p:nvSpPr>
        <p:spPr>
          <a:xfrm>
            <a:off x="3095625" y="11587480"/>
            <a:ext cx="722757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600">
                <a:sym typeface="+mn-ea"/>
              </a:rPr>
              <a:t>即</a:t>
            </a:r>
            <a:r>
              <a:rPr lang="en-US" altLang="zh-CN" sz="3600">
                <a:solidFill>
                  <a:srgbClr val="FF0000"/>
                </a:solidFill>
                <a:sym typeface="+mn-ea"/>
              </a:rPr>
              <a:t>aviat</a:t>
            </a:r>
            <a:r>
              <a:rPr lang="zh-CN" altLang="en-US" sz="3600">
                <a:solidFill>
                  <a:srgbClr val="FF0000"/>
                </a:solidFill>
                <a:sym typeface="+mn-ea"/>
              </a:rPr>
              <a:t>（</a:t>
            </a:r>
            <a:r>
              <a:rPr lang="en-US" altLang="zh-CN" sz="3600">
                <a:solidFill>
                  <a:srgbClr val="FF0000"/>
                </a:solidFill>
                <a:sym typeface="+mn-ea"/>
              </a:rPr>
              <a:t>o</a:t>
            </a:r>
            <a:r>
              <a:rPr lang="zh-CN" altLang="en-US" sz="3600">
                <a:solidFill>
                  <a:srgbClr val="FF0000"/>
                </a:solidFill>
                <a:sym typeface="+mn-ea"/>
              </a:rPr>
              <a:t>）</a:t>
            </a:r>
            <a:r>
              <a:rPr lang="en-US" altLang="zh-CN" sz="3600">
                <a:solidFill>
                  <a:srgbClr val="FF0000"/>
                </a:solidFill>
                <a:sym typeface="+mn-ea"/>
              </a:rPr>
              <a:t>r</a:t>
            </a:r>
            <a:r>
              <a:rPr lang="en-US" altLang="zh-CN" sz="3600">
                <a:sym typeface="+mn-ea"/>
              </a:rPr>
              <a:t>“</a:t>
            </a:r>
            <a:r>
              <a:rPr lang="zh-CN" altLang="en-US" sz="3600">
                <a:sym typeface="+mn-ea"/>
              </a:rPr>
              <a:t>飞行员</a:t>
            </a:r>
            <a:r>
              <a:rPr lang="en-US" altLang="zh-CN" sz="3600">
                <a:sym typeface="+mn-ea"/>
              </a:rPr>
              <a:t>”+i+x</a:t>
            </a:r>
            <a:r>
              <a:rPr lang="zh-CN" altLang="en-US" sz="3600">
                <a:sym typeface="+mn-ea"/>
              </a:rPr>
              <a:t>表女性</a:t>
            </a:r>
            <a:endParaRPr lang="zh-CN" altLang="en-US" sz="3600">
              <a:sym typeface="+mn-ea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790575" y="1157605"/>
            <a:ext cx="6104255" cy="436880"/>
          </a:xfrm>
          <a:prstGeom prst="rect">
            <a:avLst/>
          </a:prstGeom>
        </p:spPr>
        <p:txBody>
          <a:bodyPr>
            <a:noAutofit/>
          </a:bodyPr>
          <a:p>
            <a:pPr marL="0" indent="0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6000" b="1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词根</a:t>
            </a:r>
            <a:r>
              <a:rPr lang="en-US" altLang="zh-CN" sz="6000" b="1" i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av</a:t>
            </a:r>
            <a:r>
              <a:rPr lang="en-US" altLang="zh-CN" sz="6000" b="1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zh-CN" altLang="en-US" sz="6000" b="1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飞行</a:t>
            </a:r>
            <a:endParaRPr lang="zh-CN" altLang="en-US" sz="6000" b="1" i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28" grpId="0"/>
      <p:bldP spid="30" grpId="0"/>
      <p:bldP spid="8" grpId="0"/>
      <p:bldP spid="7" grpId="0"/>
      <p:bldP spid="9" grpId="0"/>
      <p:bldP spid="13" grpId="0"/>
      <p:bldP spid="12" grpId="0"/>
      <p:bldP spid="1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28600"/>
            <a:ext cx="76200" cy="457200"/>
          </a:xfrm>
          <a:prstGeom prst="rect">
            <a:avLst/>
          </a:prstGeom>
        </p:spPr>
      </p:pic>
      <p:sp>
        <p:nvSpPr>
          <p:cNvPr id="14" name="Text 0"/>
          <p:cNvSpPr/>
          <p:nvPr/>
        </p:nvSpPr>
        <p:spPr>
          <a:xfrm>
            <a:off x="838200" y="266700"/>
            <a:ext cx="384048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字母A</a:t>
            </a:r>
            <a:endParaRPr lang="en-US" sz="2700" dirty="0"/>
          </a:p>
        </p:txBody>
      </p:sp>
      <p:pic>
        <p:nvPicPr>
          <p:cNvPr id="24" name="Image 3" descr="preencoded.pn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5064760" y="981710"/>
            <a:ext cx="6485890" cy="2613660"/>
          </a:xfrm>
          <a:prstGeom prst="rect">
            <a:avLst/>
          </a:prstGeom>
        </p:spPr>
      </p:pic>
      <p:pic>
        <p:nvPicPr>
          <p:cNvPr id="26" name="Image 3" descr="preencoded.png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5064760" y="3794125"/>
            <a:ext cx="6485890" cy="2613660"/>
          </a:xfrm>
          <a:prstGeom prst="rect">
            <a:avLst/>
          </a:prstGeom>
        </p:spPr>
      </p:pic>
      <p:sp>
        <p:nvSpPr>
          <p:cNvPr id="28" name="文本框 27"/>
          <p:cNvSpPr txBox="1"/>
          <p:nvPr>
            <p:custDataLst>
              <p:tags r:id="rId7"/>
            </p:custDataLst>
          </p:nvPr>
        </p:nvSpPr>
        <p:spPr>
          <a:xfrm>
            <a:off x="5584190" y="2791460"/>
            <a:ext cx="6036310" cy="7429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3200" i="1">
                <a:sym typeface="+mn-ea"/>
              </a:rPr>
              <a:t>即</a:t>
            </a:r>
            <a:r>
              <a:rPr lang="en-US" altLang="zh-CN" sz="3200" i="1">
                <a:solidFill>
                  <a:srgbClr val="FF0000"/>
                </a:solidFill>
                <a:sym typeface="+mn-ea"/>
              </a:rPr>
              <a:t>av</a:t>
            </a:r>
            <a:r>
              <a:rPr lang="en-US" altLang="zh-CN" sz="3200" i="1">
                <a:sym typeface="+mn-ea"/>
              </a:rPr>
              <a:t> “</a:t>
            </a:r>
            <a:r>
              <a:rPr lang="zh-CN" altLang="en-US" sz="3200" i="1">
                <a:sym typeface="+mn-ea"/>
              </a:rPr>
              <a:t>鸟</a:t>
            </a:r>
            <a:r>
              <a:rPr lang="en-US" altLang="zh-CN" sz="3200" i="1">
                <a:sym typeface="+mn-ea"/>
              </a:rPr>
              <a:t>”+i+ an</a:t>
            </a:r>
            <a:r>
              <a:rPr lang="zh-CN" altLang="en-US" sz="3200" i="1">
                <a:sym typeface="+mn-ea"/>
              </a:rPr>
              <a:t>通</a:t>
            </a:r>
            <a:r>
              <a:rPr lang="en-US" altLang="zh-CN" sz="3200" i="1">
                <a:sym typeface="+mn-ea"/>
              </a:rPr>
              <a:t>one</a:t>
            </a:r>
            <a:endParaRPr lang="en-US" altLang="zh-CN" sz="3200" i="1"/>
          </a:p>
          <a:p>
            <a:endParaRPr lang="zh-CN" altLang="en-US" sz="3200" i="1">
              <a:sym typeface="+mn-ea"/>
            </a:endParaRPr>
          </a:p>
        </p:txBody>
      </p:sp>
      <p:sp>
        <p:nvSpPr>
          <p:cNvPr id="29" name="文本框 28"/>
          <p:cNvSpPr txBox="1"/>
          <p:nvPr>
            <p:custDataLst>
              <p:tags r:id="rId8"/>
            </p:custDataLst>
          </p:nvPr>
        </p:nvSpPr>
        <p:spPr>
          <a:xfrm>
            <a:off x="5365750" y="1184275"/>
            <a:ext cx="4138930" cy="1014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6000" b="1">
                <a:solidFill>
                  <a:srgbClr val="FF0000"/>
                </a:solidFill>
                <a:sym typeface="+mn-ea"/>
              </a:rPr>
              <a:t>avian</a:t>
            </a:r>
            <a:r>
              <a:rPr lang="en-US" altLang="zh-CN" sz="6000">
                <a:sym typeface="+mn-ea"/>
              </a:rPr>
              <a:t> </a:t>
            </a:r>
            <a:r>
              <a:rPr lang="en-US" altLang="zh-CN" sz="3600">
                <a:sym typeface="+mn-ea"/>
              </a:rPr>
              <a:t>/</a:t>
            </a:r>
            <a:r>
              <a:rPr lang="en-US" altLang="en-US" sz="3600">
                <a:sym typeface="+mn-ea"/>
              </a:rPr>
              <a:t>ˈ</a:t>
            </a:r>
            <a:r>
              <a:rPr lang="en-US" altLang="zh-CN" sz="3600">
                <a:sym typeface="+mn-ea"/>
              </a:rPr>
              <a:t>e</a:t>
            </a:r>
            <a:r>
              <a:rPr lang="en-US" altLang="en-US" sz="3600">
                <a:sym typeface="+mn-ea"/>
              </a:rPr>
              <a:t>ɪ</a:t>
            </a:r>
            <a:r>
              <a:rPr lang="en-US" altLang="zh-CN" sz="3600">
                <a:sym typeface="+mn-ea"/>
              </a:rPr>
              <a:t>vi</a:t>
            </a:r>
            <a:r>
              <a:rPr lang="en-US" altLang="en-US" sz="3600">
                <a:sym typeface="+mn-ea"/>
              </a:rPr>
              <a:t>ə</a:t>
            </a:r>
            <a:r>
              <a:rPr lang="en-US" altLang="zh-CN" sz="3600">
                <a:sym typeface="+mn-ea"/>
              </a:rPr>
              <a:t>n</a:t>
            </a:r>
            <a:r>
              <a:rPr lang="en-US" altLang="zh-CN" sz="3600">
                <a:sym typeface="+mn-ea"/>
              </a:rPr>
              <a:t>/</a:t>
            </a:r>
            <a:endParaRPr lang="zh-CN" altLang="en-US" sz="3600">
              <a:sym typeface="+mn-ea"/>
            </a:endParaRPr>
          </a:p>
        </p:txBody>
      </p:sp>
      <p:sp>
        <p:nvSpPr>
          <p:cNvPr id="30" name="文本框 29"/>
          <p:cNvSpPr txBox="1"/>
          <p:nvPr>
            <p:custDataLst>
              <p:tags r:id="rId9"/>
            </p:custDataLst>
          </p:nvPr>
        </p:nvSpPr>
        <p:spPr>
          <a:xfrm>
            <a:off x="9504680" y="1442085"/>
            <a:ext cx="214249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3600" b="1">
                <a:sym typeface="+mn-ea"/>
              </a:rPr>
              <a:t>n.</a:t>
            </a:r>
            <a:r>
              <a:rPr lang="zh-CN" altLang="en-US" sz="3600" b="1">
                <a:sym typeface="+mn-ea"/>
              </a:rPr>
              <a:t>鸟</a:t>
            </a:r>
            <a:r>
              <a:rPr lang="en-US" altLang="zh-CN" sz="3600" b="1">
                <a:sym typeface="+mn-ea"/>
              </a:rPr>
              <a:t>adj.</a:t>
            </a:r>
            <a:r>
              <a:rPr lang="zh-CN" altLang="en-US" sz="3600" b="1">
                <a:sym typeface="+mn-ea"/>
              </a:rPr>
              <a:t>鸟类的。</a:t>
            </a:r>
            <a:endParaRPr lang="zh-CN" altLang="en-US" sz="3600" b="1">
              <a:sym typeface="+mn-ea"/>
            </a:endParaRPr>
          </a:p>
        </p:txBody>
      </p:sp>
      <p:sp>
        <p:nvSpPr>
          <p:cNvPr id="31" name="文本框 30"/>
          <p:cNvSpPr txBox="1"/>
          <p:nvPr>
            <p:custDataLst>
              <p:tags r:id="rId10"/>
            </p:custDataLst>
          </p:nvPr>
        </p:nvSpPr>
        <p:spPr>
          <a:xfrm>
            <a:off x="5365750" y="3929380"/>
            <a:ext cx="5741670" cy="1014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6000" b="1">
                <a:solidFill>
                  <a:srgbClr val="FF0000"/>
                </a:solidFill>
                <a:sym typeface="+mn-ea"/>
              </a:rPr>
              <a:t>aviculture</a:t>
            </a:r>
            <a:r>
              <a:rPr lang="en-US" altLang="zh-CN" sz="3600">
                <a:sym typeface="+mn-ea"/>
              </a:rPr>
              <a:t> /</a:t>
            </a:r>
            <a:r>
              <a:rPr lang="en-US" altLang="en-US" sz="3600">
                <a:sym typeface="+mn-ea"/>
              </a:rPr>
              <a:t>ˌ</a:t>
            </a:r>
            <a:r>
              <a:rPr lang="en-US" altLang="zh-CN" sz="3600">
                <a:sym typeface="+mn-ea"/>
              </a:rPr>
              <a:t>e</a:t>
            </a:r>
            <a:r>
              <a:rPr lang="en-US" altLang="en-US" sz="3600">
                <a:sym typeface="+mn-ea"/>
              </a:rPr>
              <a:t>ɪ</a:t>
            </a:r>
            <a:r>
              <a:rPr lang="en-US" altLang="zh-CN" sz="3600">
                <a:sym typeface="+mn-ea"/>
              </a:rPr>
              <a:t>vi</a:t>
            </a:r>
            <a:r>
              <a:rPr lang="en-US" altLang="en-US" sz="3600">
                <a:sym typeface="+mn-ea"/>
              </a:rPr>
              <a:t>ˈ</a:t>
            </a:r>
            <a:r>
              <a:rPr lang="en-US" altLang="zh-CN" sz="3600">
                <a:sym typeface="+mn-ea"/>
              </a:rPr>
              <a:t>e</a:t>
            </a:r>
            <a:r>
              <a:rPr lang="en-US" altLang="en-US" sz="3600">
                <a:sym typeface="+mn-ea"/>
              </a:rPr>
              <a:t>ɪʃ</a:t>
            </a:r>
            <a:r>
              <a:rPr lang="en-US" altLang="zh-CN" sz="3600">
                <a:sym typeface="+mn-ea"/>
              </a:rPr>
              <a:t>n/</a:t>
            </a:r>
            <a:endParaRPr lang="zh-CN" altLang="en-US" sz="3600">
              <a:sym typeface="+mn-ea"/>
            </a:endParaRPr>
          </a:p>
        </p:txBody>
      </p:sp>
      <p:sp>
        <p:nvSpPr>
          <p:cNvPr id="32" name="文本框 31"/>
          <p:cNvSpPr txBox="1"/>
          <p:nvPr>
            <p:custDataLst>
              <p:tags r:id="rId11"/>
            </p:custDataLst>
          </p:nvPr>
        </p:nvSpPr>
        <p:spPr>
          <a:xfrm>
            <a:off x="5464175" y="4902835"/>
            <a:ext cx="483489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3600" b="1">
                <a:sym typeface="+mn-ea"/>
              </a:rPr>
              <a:t>n.</a:t>
            </a:r>
            <a:r>
              <a:rPr lang="zh-CN" altLang="en-US" sz="3600" b="1">
                <a:sym typeface="+mn-ea"/>
              </a:rPr>
              <a:t>养鸟。</a:t>
            </a:r>
            <a:endParaRPr lang="zh-CN" altLang="en-US" sz="3600">
              <a:sym typeface="+mn-ea"/>
            </a:endParaRPr>
          </a:p>
        </p:txBody>
      </p:sp>
      <p:sp>
        <p:nvSpPr>
          <p:cNvPr id="33" name="文本框 32"/>
          <p:cNvSpPr txBox="1"/>
          <p:nvPr>
            <p:custDataLst>
              <p:tags r:id="rId12"/>
            </p:custDataLst>
          </p:nvPr>
        </p:nvSpPr>
        <p:spPr>
          <a:xfrm>
            <a:off x="5464175" y="5703570"/>
            <a:ext cx="6414135" cy="10763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200" i="1">
                <a:sym typeface="+mn-ea"/>
              </a:rPr>
              <a:t>即</a:t>
            </a:r>
            <a:r>
              <a:rPr lang="en-US" altLang="zh-CN" sz="3200" i="1">
                <a:solidFill>
                  <a:srgbClr val="FF0000"/>
                </a:solidFill>
                <a:sym typeface="+mn-ea"/>
              </a:rPr>
              <a:t>av</a:t>
            </a:r>
            <a:r>
              <a:rPr lang="en-US" altLang="zh-CN" sz="3200" i="1">
                <a:sym typeface="+mn-ea"/>
              </a:rPr>
              <a:t> “</a:t>
            </a:r>
            <a:r>
              <a:rPr lang="zh-CN" altLang="en-US" sz="3200" i="1">
                <a:sym typeface="+mn-ea"/>
              </a:rPr>
              <a:t>鸟</a:t>
            </a:r>
            <a:r>
              <a:rPr lang="en-US" altLang="zh-CN" sz="3200" i="1">
                <a:sym typeface="+mn-ea"/>
              </a:rPr>
              <a:t>”+i+culture “</a:t>
            </a:r>
            <a:r>
              <a:rPr lang="zh-CN" altLang="en-US" sz="3200" i="1">
                <a:sym typeface="+mn-ea"/>
              </a:rPr>
              <a:t>栽培</a:t>
            </a:r>
            <a:r>
              <a:rPr lang="en-US" altLang="zh-CN" sz="3200" i="1">
                <a:sym typeface="+mn-ea"/>
              </a:rPr>
              <a:t>”</a:t>
            </a:r>
            <a:endParaRPr lang="zh-CN" altLang="en-US" sz="3200" i="1"/>
          </a:p>
          <a:p>
            <a:endParaRPr lang="zh-CN" altLang="en-US" sz="3200" i="1"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85800" y="1099820"/>
            <a:ext cx="6104255" cy="436880"/>
          </a:xfrm>
          <a:prstGeom prst="rect">
            <a:avLst/>
          </a:prstGeom>
        </p:spPr>
        <p:txBody>
          <a:bodyPr>
            <a:noAutofit/>
          </a:bodyPr>
          <a:p>
            <a:pPr marL="0" indent="0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6000" b="1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词根</a:t>
            </a:r>
            <a:r>
              <a:rPr lang="en-US" altLang="zh-CN" sz="6000" b="1" i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av</a:t>
            </a:r>
            <a:r>
              <a:rPr lang="en-US" altLang="zh-CN" sz="6000" b="1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zh-CN" altLang="en-US" sz="6000" b="1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鸟</a:t>
            </a:r>
            <a:endParaRPr lang="zh-CN" altLang="en-US" sz="6000" b="1" i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696" name="图片 3121" descr="鹰Av-"/>
          <p:cNvPicPr>
            <a:picLocks noChangeAspect="1"/>
          </p:cNvPicPr>
          <p:nvPr/>
        </p:nvPicPr>
        <p:blipFill>
          <a:blip r:embed="rId13"/>
          <a:srcRect r="50000"/>
          <a:stretch>
            <a:fillRect/>
          </a:stretch>
        </p:blipFill>
        <p:spPr>
          <a:xfrm>
            <a:off x="946785" y="3249295"/>
            <a:ext cx="2926080" cy="2943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28" grpId="0"/>
      <p:bldP spid="30" grpId="0"/>
      <p:bldP spid="31" grpId="0"/>
      <p:bldP spid="33" grpId="0"/>
      <p:bldP spid="3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28600"/>
            <a:ext cx="76200" cy="457200"/>
          </a:xfrm>
          <a:prstGeom prst="rect">
            <a:avLst/>
          </a:prstGeom>
        </p:spPr>
      </p:pic>
      <p:sp>
        <p:nvSpPr>
          <p:cNvPr id="14" name="Text 0"/>
          <p:cNvSpPr/>
          <p:nvPr/>
        </p:nvSpPr>
        <p:spPr>
          <a:xfrm>
            <a:off x="838200" y="266700"/>
            <a:ext cx="384048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字母A</a:t>
            </a:r>
            <a:endParaRPr lang="en-US" sz="2700" dirty="0"/>
          </a:p>
        </p:txBody>
      </p:sp>
      <p:pic>
        <p:nvPicPr>
          <p:cNvPr id="24" name="Image 3" descr="preencoded.pn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5064760" y="981710"/>
            <a:ext cx="6485890" cy="2613660"/>
          </a:xfrm>
          <a:prstGeom prst="rect">
            <a:avLst/>
          </a:prstGeom>
        </p:spPr>
      </p:pic>
      <p:pic>
        <p:nvPicPr>
          <p:cNvPr id="26" name="Image 3" descr="preencoded.png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5064760" y="3794125"/>
            <a:ext cx="6485890" cy="2613660"/>
          </a:xfrm>
          <a:prstGeom prst="rect">
            <a:avLst/>
          </a:prstGeom>
        </p:spPr>
      </p:pic>
      <p:sp>
        <p:nvSpPr>
          <p:cNvPr id="28" name="文本框 27"/>
          <p:cNvSpPr txBox="1"/>
          <p:nvPr>
            <p:custDataLst>
              <p:tags r:id="rId7"/>
            </p:custDataLst>
          </p:nvPr>
        </p:nvSpPr>
        <p:spPr>
          <a:xfrm>
            <a:off x="5514340" y="2791460"/>
            <a:ext cx="6036310" cy="7429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3200" i="1">
                <a:sym typeface="+mn-ea"/>
              </a:rPr>
              <a:t>即</a:t>
            </a:r>
            <a:r>
              <a:rPr lang="en-US" altLang="zh-CN" sz="3200" i="1">
                <a:solidFill>
                  <a:srgbClr val="FF0000"/>
                </a:solidFill>
                <a:sym typeface="+mn-ea"/>
              </a:rPr>
              <a:t>av</a:t>
            </a:r>
            <a:r>
              <a:rPr lang="en-US" altLang="zh-CN" sz="3200" i="1">
                <a:sym typeface="+mn-ea"/>
              </a:rPr>
              <a:t>“</a:t>
            </a:r>
            <a:r>
              <a:rPr lang="zh-CN" altLang="en-US" sz="3200" i="1">
                <a:sym typeface="+mn-ea"/>
              </a:rPr>
              <a:t>鸟</a:t>
            </a:r>
            <a:r>
              <a:rPr lang="en-US" altLang="zh-CN" sz="3200" i="1">
                <a:sym typeface="+mn-ea"/>
              </a:rPr>
              <a:t>”+i+ary“be”</a:t>
            </a:r>
            <a:endParaRPr lang="en-US" altLang="zh-CN" sz="3200" i="1"/>
          </a:p>
          <a:p>
            <a:endParaRPr lang="en-US" altLang="zh-CN" sz="3200" i="1"/>
          </a:p>
          <a:p>
            <a:endParaRPr lang="zh-CN" altLang="en-US" sz="3200" i="1">
              <a:sym typeface="+mn-ea"/>
            </a:endParaRPr>
          </a:p>
        </p:txBody>
      </p:sp>
      <p:sp>
        <p:nvSpPr>
          <p:cNvPr id="29" name="文本框 28"/>
          <p:cNvSpPr txBox="1"/>
          <p:nvPr>
            <p:custDataLst>
              <p:tags r:id="rId8"/>
            </p:custDataLst>
          </p:nvPr>
        </p:nvSpPr>
        <p:spPr>
          <a:xfrm>
            <a:off x="5365750" y="1184275"/>
            <a:ext cx="4138930" cy="1014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6000" b="1">
                <a:solidFill>
                  <a:srgbClr val="FF0000"/>
                </a:solidFill>
                <a:sym typeface="+mn-ea"/>
              </a:rPr>
              <a:t>aviary</a:t>
            </a:r>
            <a:r>
              <a:rPr lang="en-US" altLang="zh-CN" sz="6000">
                <a:sym typeface="+mn-ea"/>
              </a:rPr>
              <a:t> </a:t>
            </a:r>
            <a:r>
              <a:rPr lang="en-US" altLang="zh-CN" sz="3600">
                <a:sym typeface="+mn-ea"/>
              </a:rPr>
              <a:t>/</a:t>
            </a:r>
            <a:r>
              <a:rPr lang="en-US" altLang="en-US" sz="3600">
                <a:sym typeface="+mn-ea"/>
              </a:rPr>
              <a:t>ˈ</a:t>
            </a:r>
            <a:r>
              <a:rPr lang="en-US" altLang="zh-CN" sz="3600">
                <a:sym typeface="+mn-ea"/>
              </a:rPr>
              <a:t>e</a:t>
            </a:r>
            <a:r>
              <a:rPr lang="en-US" altLang="en-US" sz="3600">
                <a:sym typeface="+mn-ea"/>
              </a:rPr>
              <a:t>ɪ</a:t>
            </a:r>
            <a:r>
              <a:rPr lang="en-US" altLang="zh-CN" sz="3600">
                <a:sym typeface="+mn-ea"/>
              </a:rPr>
              <a:t>vi</a:t>
            </a:r>
            <a:r>
              <a:rPr lang="en-US" altLang="en-US" sz="3600">
                <a:sym typeface="+mn-ea"/>
              </a:rPr>
              <a:t>ə</a:t>
            </a:r>
            <a:r>
              <a:rPr lang="en-US" altLang="zh-CN" sz="3600">
                <a:sym typeface="+mn-ea"/>
              </a:rPr>
              <a:t>ri</a:t>
            </a:r>
            <a:r>
              <a:rPr lang="en-US" altLang="zh-CN" sz="3600">
                <a:sym typeface="+mn-ea"/>
              </a:rPr>
              <a:t>/</a:t>
            </a:r>
            <a:endParaRPr lang="zh-CN" altLang="en-US" sz="3600">
              <a:sym typeface="+mn-ea"/>
            </a:endParaRPr>
          </a:p>
        </p:txBody>
      </p:sp>
      <p:sp>
        <p:nvSpPr>
          <p:cNvPr id="30" name="文本框 29"/>
          <p:cNvSpPr txBox="1"/>
          <p:nvPr>
            <p:custDataLst>
              <p:tags r:id="rId9"/>
            </p:custDataLst>
          </p:nvPr>
        </p:nvSpPr>
        <p:spPr>
          <a:xfrm>
            <a:off x="5365750" y="2117090"/>
            <a:ext cx="493204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3600" b="1">
                <a:sym typeface="+mn-ea"/>
              </a:rPr>
              <a:t>n.</a:t>
            </a:r>
            <a:r>
              <a:rPr lang="zh-CN" altLang="en-US" sz="3600" b="1">
                <a:sym typeface="+mn-ea"/>
              </a:rPr>
              <a:t>鸟类饲养场；鸟舍。</a:t>
            </a:r>
            <a:endParaRPr lang="zh-CN" altLang="en-US" sz="3600" b="1">
              <a:sym typeface="+mn-ea"/>
            </a:endParaRPr>
          </a:p>
        </p:txBody>
      </p:sp>
      <p:sp>
        <p:nvSpPr>
          <p:cNvPr id="31" name="文本框 30"/>
          <p:cNvSpPr txBox="1"/>
          <p:nvPr>
            <p:custDataLst>
              <p:tags r:id="rId10"/>
            </p:custDataLst>
          </p:nvPr>
        </p:nvSpPr>
        <p:spPr>
          <a:xfrm>
            <a:off x="5365750" y="3929380"/>
            <a:ext cx="5741670" cy="1014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6000" b="1">
                <a:solidFill>
                  <a:srgbClr val="FF0000"/>
                </a:solidFill>
                <a:sym typeface="+mn-ea"/>
              </a:rPr>
              <a:t>aviarist</a:t>
            </a:r>
            <a:r>
              <a:rPr lang="en-US" altLang="zh-CN" sz="3600">
                <a:sym typeface="+mn-ea"/>
              </a:rPr>
              <a:t> /</a:t>
            </a:r>
            <a:r>
              <a:rPr lang="en-US" altLang="en-US" sz="3600">
                <a:sym typeface="+mn-ea"/>
              </a:rPr>
              <a:t>ˈ</a:t>
            </a:r>
            <a:r>
              <a:rPr lang="en-US" altLang="zh-CN" sz="3600">
                <a:sym typeface="+mn-ea"/>
              </a:rPr>
              <a:t>e</a:t>
            </a:r>
            <a:r>
              <a:rPr lang="en-US" altLang="en-US" sz="3600">
                <a:sym typeface="+mn-ea"/>
              </a:rPr>
              <a:t>ɪ</a:t>
            </a:r>
            <a:r>
              <a:rPr lang="en-US" altLang="zh-CN" sz="3600">
                <a:sym typeface="+mn-ea"/>
              </a:rPr>
              <a:t>vj</a:t>
            </a:r>
            <a:r>
              <a:rPr lang="en-US" altLang="en-US" sz="3600">
                <a:sym typeface="+mn-ea"/>
              </a:rPr>
              <a:t>ə</a:t>
            </a:r>
            <a:r>
              <a:rPr lang="en-US" altLang="zh-CN" sz="3600">
                <a:sym typeface="+mn-ea"/>
              </a:rPr>
              <a:t>r</a:t>
            </a:r>
            <a:r>
              <a:rPr lang="en-US" altLang="en-US" sz="3600">
                <a:sym typeface="+mn-ea"/>
              </a:rPr>
              <a:t>ɪ</a:t>
            </a:r>
            <a:r>
              <a:rPr lang="en-US" altLang="zh-CN" sz="3600">
                <a:sym typeface="+mn-ea"/>
              </a:rPr>
              <a:t>st</a:t>
            </a:r>
            <a:r>
              <a:rPr lang="en-US" altLang="zh-CN" sz="3600">
                <a:sym typeface="+mn-ea"/>
              </a:rPr>
              <a:t>/</a:t>
            </a:r>
            <a:endParaRPr lang="zh-CN" altLang="en-US" sz="3600">
              <a:sym typeface="+mn-ea"/>
            </a:endParaRPr>
          </a:p>
        </p:txBody>
      </p:sp>
      <p:sp>
        <p:nvSpPr>
          <p:cNvPr id="32" name="文本框 31"/>
          <p:cNvSpPr txBox="1"/>
          <p:nvPr>
            <p:custDataLst>
              <p:tags r:id="rId11"/>
            </p:custDataLst>
          </p:nvPr>
        </p:nvSpPr>
        <p:spPr>
          <a:xfrm>
            <a:off x="5442585" y="4817110"/>
            <a:ext cx="483489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3600" b="1">
                <a:sym typeface="+mn-ea"/>
              </a:rPr>
              <a:t>n.</a:t>
            </a:r>
            <a:r>
              <a:rPr lang="zh-CN" altLang="en-US" sz="3600" b="1">
                <a:sym typeface="+mn-ea"/>
              </a:rPr>
              <a:t>飞禽饲养家</a:t>
            </a:r>
            <a:r>
              <a:rPr lang="zh-CN" altLang="en-US" sz="3600" b="1">
                <a:sym typeface="+mn-ea"/>
              </a:rPr>
              <a:t>。</a:t>
            </a:r>
            <a:endParaRPr lang="zh-CN" altLang="en-US" sz="3600" b="1">
              <a:sym typeface="+mn-ea"/>
            </a:endParaRPr>
          </a:p>
        </p:txBody>
      </p:sp>
      <p:sp>
        <p:nvSpPr>
          <p:cNvPr id="33" name="文本框 32"/>
          <p:cNvSpPr txBox="1"/>
          <p:nvPr>
            <p:custDataLst>
              <p:tags r:id="rId12"/>
            </p:custDataLst>
          </p:nvPr>
        </p:nvSpPr>
        <p:spPr>
          <a:xfrm>
            <a:off x="5365750" y="5481955"/>
            <a:ext cx="6414135" cy="19996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000" i="1">
                <a:sym typeface="+mn-ea"/>
              </a:rPr>
              <a:t>即</a:t>
            </a:r>
            <a:r>
              <a:rPr lang="en-US" altLang="zh-CN" sz="3000" i="1">
                <a:solidFill>
                  <a:srgbClr val="FF0000"/>
                </a:solidFill>
                <a:sym typeface="+mn-ea"/>
              </a:rPr>
              <a:t>aviar</a:t>
            </a:r>
            <a:r>
              <a:rPr lang="zh-CN" altLang="en-US" sz="3000" i="1">
                <a:solidFill>
                  <a:srgbClr val="FF0000"/>
                </a:solidFill>
                <a:sym typeface="+mn-ea"/>
              </a:rPr>
              <a:t>（</a:t>
            </a:r>
            <a:r>
              <a:rPr lang="en-US" altLang="zh-CN" sz="3000" i="1">
                <a:solidFill>
                  <a:srgbClr val="FF0000"/>
                </a:solidFill>
                <a:sym typeface="+mn-ea"/>
              </a:rPr>
              <a:t>y</a:t>
            </a:r>
            <a:r>
              <a:rPr lang="zh-CN" altLang="en-US" sz="3000" i="1">
                <a:solidFill>
                  <a:srgbClr val="FF0000"/>
                </a:solidFill>
                <a:sym typeface="+mn-ea"/>
              </a:rPr>
              <a:t>）</a:t>
            </a:r>
            <a:r>
              <a:rPr lang="en-US" altLang="zh-CN" sz="3000" i="1">
                <a:sym typeface="+mn-ea"/>
              </a:rPr>
              <a:t>“</a:t>
            </a:r>
            <a:r>
              <a:rPr lang="zh-CN" altLang="en-US" sz="3000" i="1">
                <a:sym typeface="+mn-ea"/>
              </a:rPr>
              <a:t>鸟类饲养场</a:t>
            </a:r>
            <a:r>
              <a:rPr lang="en-US" altLang="zh-CN" sz="3000" i="1">
                <a:sym typeface="+mn-ea"/>
              </a:rPr>
              <a:t>”+ist</a:t>
            </a:r>
            <a:r>
              <a:rPr lang="zh-CN" altLang="en-US" sz="3000" i="1">
                <a:sym typeface="+mn-ea"/>
              </a:rPr>
              <a:t>表实践者</a:t>
            </a:r>
            <a:endParaRPr lang="zh-CN" altLang="en-US" sz="3000" i="1"/>
          </a:p>
          <a:p>
            <a:endParaRPr lang="zh-CN" altLang="en-US" sz="3200" i="1"/>
          </a:p>
          <a:p>
            <a:endParaRPr lang="zh-CN" altLang="en-US" sz="3200" i="1"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85800" y="1099820"/>
            <a:ext cx="6104255" cy="436880"/>
          </a:xfrm>
          <a:prstGeom prst="rect">
            <a:avLst/>
          </a:prstGeom>
        </p:spPr>
        <p:txBody>
          <a:bodyPr>
            <a:noAutofit/>
          </a:bodyPr>
          <a:p>
            <a:pPr marL="0" indent="0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6000" b="1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词根</a:t>
            </a:r>
            <a:r>
              <a:rPr lang="en-US" altLang="zh-CN" sz="6000" b="1" i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av</a:t>
            </a:r>
            <a:r>
              <a:rPr lang="en-US" altLang="zh-CN" sz="6000" b="1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zh-CN" altLang="en-US" sz="6000" b="1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鸟</a:t>
            </a:r>
            <a:endParaRPr lang="zh-CN" altLang="en-US" sz="6000" b="1" i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696" name="图片 3121" descr="鹰Av-"/>
          <p:cNvPicPr>
            <a:picLocks noChangeAspect="1"/>
          </p:cNvPicPr>
          <p:nvPr/>
        </p:nvPicPr>
        <p:blipFill>
          <a:blip r:embed="rId13"/>
          <a:srcRect r="50000"/>
          <a:stretch>
            <a:fillRect/>
          </a:stretch>
        </p:blipFill>
        <p:spPr>
          <a:xfrm>
            <a:off x="1023620" y="2604770"/>
            <a:ext cx="2926080" cy="2943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28" grpId="0"/>
      <p:bldP spid="30" grpId="0"/>
      <p:bldP spid="31" grpId="0"/>
      <p:bldP spid="33" grpId="0"/>
      <p:bldP spid="3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28600"/>
            <a:ext cx="76200" cy="457200"/>
          </a:xfrm>
          <a:prstGeom prst="rect">
            <a:avLst/>
          </a:prstGeom>
        </p:spPr>
      </p:pic>
      <p:sp>
        <p:nvSpPr>
          <p:cNvPr id="14" name="Text 0"/>
          <p:cNvSpPr/>
          <p:nvPr/>
        </p:nvSpPr>
        <p:spPr>
          <a:xfrm>
            <a:off x="838200" y="266700"/>
            <a:ext cx="384048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字母A</a:t>
            </a:r>
            <a:endParaRPr lang="en-US" sz="2700" dirty="0"/>
          </a:p>
        </p:txBody>
      </p:sp>
      <p:pic>
        <p:nvPicPr>
          <p:cNvPr id="26" name="Image 3" descr="preencoded.pn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4966335" y="2616835"/>
            <a:ext cx="6485890" cy="2613660"/>
          </a:xfrm>
          <a:prstGeom prst="rect">
            <a:avLst/>
          </a:prstGeom>
        </p:spPr>
      </p:pic>
      <p:sp>
        <p:nvSpPr>
          <p:cNvPr id="31" name="文本框 30"/>
          <p:cNvSpPr txBox="1"/>
          <p:nvPr>
            <p:custDataLst>
              <p:tags r:id="rId6"/>
            </p:custDataLst>
          </p:nvPr>
        </p:nvSpPr>
        <p:spPr>
          <a:xfrm>
            <a:off x="5267325" y="2752090"/>
            <a:ext cx="5741670" cy="1014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6000" b="1">
                <a:solidFill>
                  <a:srgbClr val="FF0000"/>
                </a:solidFill>
                <a:sym typeface="+mn-ea"/>
              </a:rPr>
              <a:t>avid</a:t>
            </a:r>
            <a:r>
              <a:rPr lang="en-US" altLang="zh-CN" sz="3600">
                <a:sym typeface="+mn-ea"/>
              </a:rPr>
              <a:t>/</a:t>
            </a:r>
            <a:r>
              <a:rPr lang="en-US" altLang="zh-CN" sz="3600">
                <a:latin typeface="Times New Roman" panose="02020603050405020304"/>
                <a:ea typeface="华文楷体" panose="02010600040101010101" charset="-122"/>
                <a:sym typeface="+mn-ea"/>
              </a:rPr>
              <a:t>ˈævɪd</a:t>
            </a:r>
            <a:r>
              <a:rPr lang="en-US" altLang="zh-CN" sz="3600">
                <a:sym typeface="+mn-ea"/>
              </a:rPr>
              <a:t>/</a:t>
            </a:r>
            <a:endParaRPr lang="zh-CN" altLang="en-US" sz="3600">
              <a:sym typeface="+mn-ea"/>
            </a:endParaRPr>
          </a:p>
        </p:txBody>
      </p:sp>
      <p:sp>
        <p:nvSpPr>
          <p:cNvPr id="32" name="文本框 31"/>
          <p:cNvSpPr txBox="1"/>
          <p:nvPr>
            <p:custDataLst>
              <p:tags r:id="rId7"/>
            </p:custDataLst>
          </p:nvPr>
        </p:nvSpPr>
        <p:spPr>
          <a:xfrm>
            <a:off x="5344160" y="3639820"/>
            <a:ext cx="483489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600" b="1">
                <a:sym typeface="+mn-ea"/>
              </a:rPr>
              <a:t>adj.渴求的；贪婪的。</a:t>
            </a:r>
            <a:endParaRPr lang="zh-CN" altLang="en-US" sz="3600" b="1">
              <a:sym typeface="+mn-ea"/>
            </a:endParaRPr>
          </a:p>
        </p:txBody>
      </p:sp>
      <p:sp>
        <p:nvSpPr>
          <p:cNvPr id="33" name="文本框 32"/>
          <p:cNvSpPr txBox="1"/>
          <p:nvPr>
            <p:custDataLst>
              <p:tags r:id="rId8"/>
            </p:custDataLst>
          </p:nvPr>
        </p:nvSpPr>
        <p:spPr>
          <a:xfrm>
            <a:off x="5267325" y="4304665"/>
            <a:ext cx="6414135" cy="1568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200" i="1">
                <a:latin typeface="Times New Roman" panose="02020603050405020304"/>
                <a:ea typeface="华文楷体" panose="02010600040101010101" charset="-122"/>
                <a:sym typeface="+mn-ea"/>
              </a:rPr>
              <a:t>即</a:t>
            </a:r>
            <a:r>
              <a:rPr lang="en-US" altLang="zh-CN" sz="3200" i="1">
                <a:solidFill>
                  <a:srgbClr val="FF0000"/>
                </a:solidFill>
                <a:latin typeface="Times New Roman" panose="02020603050405020304"/>
                <a:ea typeface="华文楷体" panose="02010600040101010101" charset="-122"/>
                <a:sym typeface="+mn-ea"/>
              </a:rPr>
              <a:t>av</a:t>
            </a:r>
            <a:r>
              <a:rPr lang="en-US" altLang="zh-CN" sz="3200" i="1">
                <a:latin typeface="Times New Roman" panose="02020603050405020304"/>
                <a:ea typeface="华文楷体" panose="02010600040101010101" charset="-122"/>
                <a:sym typeface="+mn-ea"/>
              </a:rPr>
              <a:t> “</a:t>
            </a:r>
            <a:r>
              <a:rPr lang="zh-CN" altLang="en-US" sz="3200" i="1">
                <a:latin typeface="华文楷体" panose="02010600040101010101" charset="-122"/>
                <a:ea typeface="华文楷体" panose="02010600040101010101" charset="-122"/>
                <a:sym typeface="+mn-ea"/>
              </a:rPr>
              <a:t>渴求</a:t>
            </a:r>
            <a:r>
              <a:rPr lang="zh-CN" altLang="en-US" sz="3200" i="1">
                <a:latin typeface="Times New Roman" panose="02020603050405020304"/>
                <a:ea typeface="华文楷体" panose="02010600040101010101" charset="-122"/>
                <a:sym typeface="+mn-ea"/>
              </a:rPr>
              <a:t>”</a:t>
            </a:r>
            <a:r>
              <a:rPr lang="en-US" altLang="zh-CN" sz="3200" i="1">
                <a:latin typeface="Times New Roman" panose="02020603050405020304"/>
                <a:ea typeface="华文楷体" panose="02010600040101010101" charset="-122"/>
                <a:sym typeface="+mn-ea"/>
              </a:rPr>
              <a:t>+id </a:t>
            </a:r>
            <a:r>
              <a:rPr lang="zh-CN" altLang="en-US" sz="3200" i="1">
                <a:latin typeface="华文楷体" panose="02010600040101010101" charset="-122"/>
                <a:ea typeface="华文楷体" panose="02010600040101010101" charset="-122"/>
                <a:sym typeface="+mn-ea"/>
              </a:rPr>
              <a:t>形容词后缀</a:t>
            </a:r>
            <a:endParaRPr lang="zh-CN" altLang="en-US" sz="3200" i="1">
              <a:latin typeface="华文楷体" panose="02010600040101010101" charset="-122"/>
              <a:ea typeface="华文楷体" panose="02010600040101010101" charset="-122"/>
            </a:endParaRPr>
          </a:p>
          <a:p>
            <a:endParaRPr lang="zh-CN" altLang="en-US" sz="3200" i="1"/>
          </a:p>
          <a:p>
            <a:endParaRPr lang="zh-CN" altLang="en-US" sz="3200" i="1"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85800" y="1099820"/>
            <a:ext cx="9798685" cy="436880"/>
          </a:xfrm>
          <a:prstGeom prst="rect">
            <a:avLst/>
          </a:prstGeom>
        </p:spPr>
        <p:txBody>
          <a:bodyPr>
            <a:noAutofit/>
          </a:bodyPr>
          <a:p>
            <a:pPr marL="0" indent="0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6000" b="1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词根</a:t>
            </a:r>
            <a:r>
              <a:rPr lang="en-US" altLang="zh-CN" sz="6000" b="1" i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av</a:t>
            </a:r>
            <a:r>
              <a:rPr lang="en-US" altLang="zh-CN" sz="6000" b="1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zh-CN" altLang="en-US" sz="60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渴求；渴望；贪婪</a:t>
            </a:r>
            <a:endParaRPr lang="zh-CN" altLang="en-US" sz="6000" b="1" i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696" name="图片 3121" descr="鹰Av-"/>
          <p:cNvPicPr>
            <a:picLocks noChangeAspect="1"/>
          </p:cNvPicPr>
          <p:nvPr/>
        </p:nvPicPr>
        <p:blipFill>
          <a:blip r:embed="rId9"/>
          <a:srcRect r="50000"/>
          <a:stretch>
            <a:fillRect/>
          </a:stretch>
        </p:blipFill>
        <p:spPr>
          <a:xfrm>
            <a:off x="838200" y="2460625"/>
            <a:ext cx="2926080" cy="2943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3" grpId="0"/>
      <p:bldP spid="3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28600"/>
            <a:ext cx="76200" cy="457200"/>
          </a:xfrm>
          <a:prstGeom prst="rect">
            <a:avLst/>
          </a:prstGeom>
        </p:spPr>
      </p:pic>
      <p:sp>
        <p:nvSpPr>
          <p:cNvPr id="14" name="Text 0"/>
          <p:cNvSpPr/>
          <p:nvPr/>
        </p:nvSpPr>
        <p:spPr>
          <a:xfrm>
            <a:off x="838200" y="266700"/>
            <a:ext cx="384048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字母A</a:t>
            </a:r>
            <a:endParaRPr lang="en-US" sz="2700" dirty="0"/>
          </a:p>
        </p:txBody>
      </p:sp>
      <p:pic>
        <p:nvPicPr>
          <p:cNvPr id="24" name="Image 3" descr="preencoded.pn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5064760" y="981710"/>
            <a:ext cx="6485890" cy="2613660"/>
          </a:xfrm>
          <a:prstGeom prst="rect">
            <a:avLst/>
          </a:prstGeom>
        </p:spPr>
      </p:pic>
      <p:pic>
        <p:nvPicPr>
          <p:cNvPr id="26" name="Image 3" descr="preencoded.png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5064760" y="3794125"/>
            <a:ext cx="6485890" cy="2613660"/>
          </a:xfrm>
          <a:prstGeom prst="rect">
            <a:avLst/>
          </a:prstGeom>
        </p:spPr>
      </p:pic>
      <p:sp>
        <p:nvSpPr>
          <p:cNvPr id="28" name="文本框 27"/>
          <p:cNvSpPr txBox="1"/>
          <p:nvPr>
            <p:custDataLst>
              <p:tags r:id="rId7"/>
            </p:custDataLst>
          </p:nvPr>
        </p:nvSpPr>
        <p:spPr>
          <a:xfrm>
            <a:off x="5365750" y="2752725"/>
            <a:ext cx="6036310" cy="7429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3000" i="1">
                <a:latin typeface="Times New Roman" panose="02020603050405020304"/>
                <a:ea typeface="华文楷体" panose="02010600040101010101" charset="-122"/>
                <a:sym typeface="+mn-ea"/>
              </a:rPr>
              <a:t>即</a:t>
            </a:r>
            <a:r>
              <a:rPr lang="en-US" altLang="zh-CN" sz="3000" i="1">
                <a:solidFill>
                  <a:srgbClr val="FF0000"/>
                </a:solidFill>
                <a:latin typeface="Times New Roman" panose="02020603050405020304"/>
                <a:ea typeface="华文楷体" panose="02010600040101010101" charset="-122"/>
                <a:sym typeface="+mn-ea"/>
              </a:rPr>
              <a:t>av</a:t>
            </a:r>
            <a:r>
              <a:rPr lang="en-US" altLang="zh-CN" sz="3000" i="1">
                <a:latin typeface="Times New Roman" panose="02020603050405020304"/>
                <a:ea typeface="华文楷体" panose="02010600040101010101" charset="-122"/>
                <a:sym typeface="+mn-ea"/>
              </a:rPr>
              <a:t> “</a:t>
            </a:r>
            <a:r>
              <a:rPr lang="zh-CN" altLang="en-US" sz="3000" i="1">
                <a:latin typeface="华文楷体" panose="02010600040101010101" charset="-122"/>
                <a:ea typeface="华文楷体" panose="02010600040101010101" charset="-122"/>
                <a:sym typeface="+mn-ea"/>
              </a:rPr>
              <a:t>渴求</a:t>
            </a:r>
            <a:r>
              <a:rPr lang="zh-CN" altLang="en-US" sz="3000" i="1">
                <a:latin typeface="Times New Roman" panose="02020603050405020304"/>
                <a:ea typeface="华文楷体" panose="02010600040101010101" charset="-122"/>
                <a:sym typeface="+mn-ea"/>
              </a:rPr>
              <a:t>”</a:t>
            </a:r>
            <a:r>
              <a:rPr lang="en-US" altLang="zh-CN" sz="3000" i="1">
                <a:latin typeface="Times New Roman" panose="02020603050405020304"/>
                <a:ea typeface="华文楷体" panose="02010600040101010101" charset="-122"/>
                <a:sym typeface="+mn-ea"/>
              </a:rPr>
              <a:t>+ar“be”+ice</a:t>
            </a:r>
            <a:r>
              <a:rPr lang="zh-CN" altLang="en-US" sz="3000" i="1">
                <a:latin typeface="华文楷体" panose="02010600040101010101" charset="-122"/>
                <a:ea typeface="华文楷体" panose="02010600040101010101" charset="-122"/>
                <a:sym typeface="+mn-ea"/>
              </a:rPr>
              <a:t>名词后缀</a:t>
            </a:r>
            <a:endParaRPr lang="zh-CN" altLang="en-US" sz="3000" i="1">
              <a:latin typeface="华文楷体" panose="02010600040101010101" charset="-122"/>
              <a:ea typeface="华文楷体" panose="02010600040101010101" charset="-122"/>
            </a:endParaRPr>
          </a:p>
          <a:p>
            <a:endParaRPr lang="en-US" altLang="zh-CN" sz="3200" i="1"/>
          </a:p>
          <a:p>
            <a:endParaRPr lang="en-US" altLang="zh-CN" sz="3200" i="1"/>
          </a:p>
          <a:p>
            <a:endParaRPr lang="zh-CN" altLang="en-US" sz="3200" i="1">
              <a:sym typeface="+mn-ea"/>
            </a:endParaRPr>
          </a:p>
        </p:txBody>
      </p:sp>
      <p:sp>
        <p:nvSpPr>
          <p:cNvPr id="29" name="文本框 28"/>
          <p:cNvSpPr txBox="1"/>
          <p:nvPr>
            <p:custDataLst>
              <p:tags r:id="rId8"/>
            </p:custDataLst>
          </p:nvPr>
        </p:nvSpPr>
        <p:spPr>
          <a:xfrm>
            <a:off x="5365750" y="1089025"/>
            <a:ext cx="4725670" cy="1014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6000" b="1">
                <a:solidFill>
                  <a:srgbClr val="FF0000"/>
                </a:solidFill>
                <a:sym typeface="+mn-ea"/>
              </a:rPr>
              <a:t>avarice</a:t>
            </a:r>
            <a:r>
              <a:rPr lang="en-US" altLang="zh-CN" sz="6000">
                <a:sym typeface="+mn-ea"/>
              </a:rPr>
              <a:t> </a:t>
            </a:r>
            <a:r>
              <a:rPr lang="en-US" altLang="zh-CN" sz="3600">
                <a:sym typeface="+mn-ea"/>
              </a:rPr>
              <a:t>/</a:t>
            </a:r>
            <a:r>
              <a:rPr lang="en-US" altLang="zh-CN" sz="3600">
                <a:latin typeface="Times New Roman" panose="02020603050405020304"/>
                <a:ea typeface="华文楷体" panose="02010600040101010101" charset="-122"/>
                <a:sym typeface="+mn-ea"/>
              </a:rPr>
              <a:t>ˈævərɪs</a:t>
            </a:r>
            <a:r>
              <a:rPr lang="en-US" altLang="zh-CN" sz="3600">
                <a:sym typeface="+mn-ea"/>
              </a:rPr>
              <a:t>/</a:t>
            </a:r>
            <a:endParaRPr lang="zh-CN" altLang="en-US" sz="3600">
              <a:sym typeface="+mn-ea"/>
            </a:endParaRPr>
          </a:p>
        </p:txBody>
      </p:sp>
      <p:sp>
        <p:nvSpPr>
          <p:cNvPr id="30" name="文本框 29"/>
          <p:cNvSpPr txBox="1"/>
          <p:nvPr>
            <p:custDataLst>
              <p:tags r:id="rId9"/>
            </p:custDataLst>
          </p:nvPr>
        </p:nvSpPr>
        <p:spPr>
          <a:xfrm>
            <a:off x="5365750" y="2021840"/>
            <a:ext cx="493204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600" b="1">
                <a:sym typeface="+mn-ea"/>
              </a:rPr>
              <a:t>n.</a:t>
            </a:r>
            <a:r>
              <a:rPr lang="zh-CN" altLang="en-US" sz="3600" b="1">
                <a:sym typeface="+mn-ea"/>
              </a:rPr>
              <a:t>贪婪。</a:t>
            </a:r>
            <a:endParaRPr lang="zh-CN" altLang="en-US" sz="3600" b="1">
              <a:sym typeface="+mn-ea"/>
            </a:endParaRPr>
          </a:p>
        </p:txBody>
      </p:sp>
      <p:sp>
        <p:nvSpPr>
          <p:cNvPr id="31" name="文本框 30"/>
          <p:cNvSpPr txBox="1"/>
          <p:nvPr>
            <p:custDataLst>
              <p:tags r:id="rId10"/>
            </p:custDataLst>
          </p:nvPr>
        </p:nvSpPr>
        <p:spPr>
          <a:xfrm>
            <a:off x="5442585" y="3929380"/>
            <a:ext cx="6012180" cy="1014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6000" b="1">
                <a:solidFill>
                  <a:srgbClr val="FF0000"/>
                </a:solidFill>
                <a:sym typeface="+mn-ea"/>
              </a:rPr>
              <a:t>avaricious</a:t>
            </a:r>
            <a:r>
              <a:rPr lang="en-US" altLang="zh-CN" sz="6000" b="1">
                <a:solidFill>
                  <a:srgbClr val="FF0000"/>
                </a:solidFill>
                <a:sym typeface="+mn-ea"/>
              </a:rPr>
              <a:t> </a:t>
            </a:r>
            <a:r>
              <a:rPr lang="en-US" altLang="zh-CN" sz="3600">
                <a:sym typeface="+mn-ea"/>
              </a:rPr>
              <a:t>/</a:t>
            </a:r>
            <a:r>
              <a:rPr lang="en-US" altLang="zh-CN" sz="3600">
                <a:latin typeface="Times New Roman" panose="02020603050405020304"/>
                <a:ea typeface="华文楷体" panose="02010600040101010101" charset="-122"/>
                <a:sym typeface="+mn-ea"/>
              </a:rPr>
              <a:t>ˌ</a:t>
            </a:r>
            <a:r>
              <a:rPr lang="en-US" altLang="zh-CN" sz="3600">
                <a:latin typeface="Times New Roman" panose="02020603050405020304"/>
                <a:ea typeface="Times New Roman" panose="02020603050405020304"/>
                <a:sym typeface="+mn-ea"/>
              </a:rPr>
              <a:t>ævə</a:t>
            </a:r>
            <a:r>
              <a:rPr lang="en-US" altLang="zh-CN" sz="3600">
                <a:latin typeface="Times New Roman" panose="02020603050405020304"/>
                <a:ea typeface="华文楷体" panose="02010600040101010101" charset="-122"/>
                <a:sym typeface="+mn-ea"/>
              </a:rPr>
              <a:t>ˈ</a:t>
            </a:r>
            <a:r>
              <a:rPr lang="en-US" altLang="zh-CN" sz="3600">
                <a:latin typeface="Times New Roman" panose="02020603050405020304"/>
                <a:ea typeface="Times New Roman" panose="02020603050405020304"/>
                <a:sym typeface="+mn-ea"/>
              </a:rPr>
              <a:t>rɪʃəs</a:t>
            </a:r>
            <a:r>
              <a:rPr lang="en-US" altLang="zh-CN" sz="3600">
                <a:sym typeface="+mn-ea"/>
              </a:rPr>
              <a:t>/</a:t>
            </a:r>
            <a:endParaRPr lang="zh-CN" altLang="en-US" sz="3600">
              <a:sym typeface="+mn-ea"/>
            </a:endParaRPr>
          </a:p>
        </p:txBody>
      </p:sp>
      <p:sp>
        <p:nvSpPr>
          <p:cNvPr id="32" name="文本框 31"/>
          <p:cNvSpPr txBox="1"/>
          <p:nvPr>
            <p:custDataLst>
              <p:tags r:id="rId11"/>
            </p:custDataLst>
          </p:nvPr>
        </p:nvSpPr>
        <p:spPr>
          <a:xfrm>
            <a:off x="5442585" y="4817110"/>
            <a:ext cx="483489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600" b="1">
                <a:sym typeface="+mn-ea"/>
              </a:rPr>
              <a:t>adj.贪婪的</a:t>
            </a:r>
            <a:r>
              <a:rPr lang="zh-CN" altLang="en-US" sz="3600" b="1">
                <a:sym typeface="+mn-ea"/>
              </a:rPr>
              <a:t>。</a:t>
            </a:r>
            <a:endParaRPr lang="zh-CN" altLang="en-US" sz="3600" b="1">
              <a:sym typeface="+mn-ea"/>
            </a:endParaRPr>
          </a:p>
        </p:txBody>
      </p:sp>
      <p:sp>
        <p:nvSpPr>
          <p:cNvPr id="33" name="文本框 32"/>
          <p:cNvSpPr txBox="1"/>
          <p:nvPr>
            <p:custDataLst>
              <p:tags r:id="rId12"/>
            </p:custDataLst>
          </p:nvPr>
        </p:nvSpPr>
        <p:spPr>
          <a:xfrm>
            <a:off x="5365750" y="5481955"/>
            <a:ext cx="6414135" cy="24612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000">
                <a:latin typeface="Times New Roman" panose="02020603050405020304"/>
                <a:ea typeface="华文楷体" panose="02010600040101010101" charset="-122"/>
                <a:sym typeface="+mn-ea"/>
              </a:rPr>
              <a:t>即</a:t>
            </a:r>
            <a:r>
              <a:rPr lang="en-US" altLang="zh-CN" sz="3000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sym typeface="+mn-ea"/>
              </a:rPr>
              <a:t>avaric</a:t>
            </a:r>
            <a:r>
              <a:rPr lang="zh-CN" altLang="en-US" sz="3000">
                <a:solidFill>
                  <a:srgbClr val="FF0000"/>
                </a:solidFill>
                <a:latin typeface="Times New Roman" panose="02020603050405020304"/>
                <a:ea typeface="华文楷体" panose="02010600040101010101" charset="-122"/>
                <a:sym typeface="+mn-ea"/>
              </a:rPr>
              <a:t>（</a:t>
            </a:r>
            <a:r>
              <a:rPr lang="en-US" altLang="zh-CN" sz="3000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sym typeface="+mn-ea"/>
              </a:rPr>
              <a:t>e</a:t>
            </a:r>
            <a:r>
              <a:rPr lang="zh-CN" altLang="en-US" sz="3000">
                <a:solidFill>
                  <a:srgbClr val="FF0000"/>
                </a:solidFill>
                <a:latin typeface="Times New Roman" panose="02020603050405020304"/>
                <a:ea typeface="华文楷体" panose="02010600040101010101" charset="-122"/>
                <a:sym typeface="+mn-ea"/>
              </a:rPr>
              <a:t>）</a:t>
            </a:r>
            <a:r>
              <a:rPr lang="zh-CN" altLang="en-US" sz="3000">
                <a:latin typeface="Times New Roman" panose="02020603050405020304"/>
                <a:ea typeface="华文楷体" panose="02010600040101010101" charset="-122"/>
                <a:sym typeface="+mn-ea"/>
              </a:rPr>
              <a:t>“贪婪”</a:t>
            </a:r>
            <a:r>
              <a:rPr lang="en-US" altLang="zh-CN" sz="3000">
                <a:latin typeface="Times New Roman" panose="02020603050405020304"/>
                <a:ea typeface="Times New Roman" panose="02020603050405020304"/>
                <a:sym typeface="+mn-ea"/>
              </a:rPr>
              <a:t>+i+ous</a:t>
            </a:r>
            <a:r>
              <a:rPr lang="zh-CN" altLang="en-US" sz="3000">
                <a:latin typeface="Times New Roman" panose="02020603050405020304"/>
                <a:ea typeface="华文楷体" panose="02010600040101010101" charset="-122"/>
                <a:sym typeface="+mn-ea"/>
              </a:rPr>
              <a:t>形容词后缀</a:t>
            </a:r>
            <a:endParaRPr lang="zh-CN" altLang="en-US" sz="3000">
              <a:latin typeface="Times New Roman" panose="02020603050405020304"/>
              <a:ea typeface="华文楷体" panose="02010600040101010101" charset="-122"/>
            </a:endParaRPr>
          </a:p>
          <a:p>
            <a:endParaRPr lang="zh-CN" altLang="en-US" sz="3000" i="1"/>
          </a:p>
          <a:p>
            <a:endParaRPr lang="zh-CN" altLang="en-US" sz="3200" i="1"/>
          </a:p>
          <a:p>
            <a:endParaRPr lang="zh-CN" altLang="en-US" sz="3200" i="1"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85800" y="1099820"/>
            <a:ext cx="3196590" cy="436880"/>
          </a:xfrm>
          <a:prstGeom prst="rect">
            <a:avLst/>
          </a:prstGeom>
        </p:spPr>
        <p:txBody>
          <a:bodyPr>
            <a:noAutofit/>
          </a:bodyPr>
          <a:p>
            <a:pPr marL="0" indent="0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6000" b="1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词根</a:t>
            </a:r>
            <a:r>
              <a:rPr lang="en-US" altLang="zh-CN" sz="6000" b="1" i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av</a:t>
            </a:r>
            <a:r>
              <a:rPr lang="en-US" altLang="zh-CN" sz="6000" b="1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zh-CN" altLang="en-US" sz="40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渴求；渴望；贪婪</a:t>
            </a:r>
            <a:endParaRPr lang="zh-CN" altLang="en-US" sz="4000" b="1" i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696" name="图片 3121" descr="鹰Av-"/>
          <p:cNvPicPr>
            <a:picLocks noChangeAspect="1"/>
          </p:cNvPicPr>
          <p:nvPr/>
        </p:nvPicPr>
        <p:blipFill>
          <a:blip r:embed="rId13"/>
          <a:srcRect r="50000"/>
          <a:stretch>
            <a:fillRect/>
          </a:stretch>
        </p:blipFill>
        <p:spPr>
          <a:xfrm>
            <a:off x="1071245" y="3336290"/>
            <a:ext cx="2926080" cy="2943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28" grpId="0"/>
      <p:bldP spid="30" grpId="0"/>
      <p:bldP spid="31" grpId="0"/>
      <p:bldP spid="33" grpId="0"/>
      <p:bldP spid="3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28600"/>
            <a:ext cx="76200" cy="457200"/>
          </a:xfrm>
          <a:prstGeom prst="rect">
            <a:avLst/>
          </a:prstGeom>
        </p:spPr>
      </p:pic>
      <p:sp>
        <p:nvSpPr>
          <p:cNvPr id="14" name="Text 0"/>
          <p:cNvSpPr/>
          <p:nvPr/>
        </p:nvSpPr>
        <p:spPr>
          <a:xfrm>
            <a:off x="838200" y="266700"/>
            <a:ext cx="384048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字母A</a:t>
            </a:r>
            <a:endParaRPr lang="en-US" sz="2700" dirty="0"/>
          </a:p>
        </p:txBody>
      </p:sp>
      <p:pic>
        <p:nvPicPr>
          <p:cNvPr id="24" name="Image 3" descr="preencoded.pn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494665" y="1180465"/>
            <a:ext cx="5216525" cy="4779010"/>
          </a:xfrm>
          <a:prstGeom prst="rect">
            <a:avLst/>
          </a:prstGeom>
        </p:spPr>
      </p:pic>
      <p:pic>
        <p:nvPicPr>
          <p:cNvPr id="26" name="Image 3" descr="preencoded.png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6353810" y="288925"/>
            <a:ext cx="5196840" cy="3234055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838200" y="1939925"/>
            <a:ext cx="4629785" cy="40195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50000"/>
              </a:lnSpc>
            </a:pPr>
            <a:r>
              <a:rPr lang="en-US" altLang="zh-CN" sz="3200" b="1">
                <a:solidFill>
                  <a:srgbClr val="FF0000"/>
                </a:solidFill>
                <a:sym typeface="+mn-ea"/>
              </a:rPr>
              <a:t>aviate</a:t>
            </a:r>
            <a:r>
              <a:rPr lang="en-US" altLang="zh-CN" sz="3200">
                <a:sym typeface="+mn-ea"/>
              </a:rPr>
              <a:t> /</a:t>
            </a:r>
            <a:r>
              <a:rPr lang="en-US" altLang="en-US" sz="3200">
                <a:sym typeface="+mn-ea"/>
              </a:rPr>
              <a:t>ˈ</a:t>
            </a:r>
            <a:r>
              <a:rPr lang="en-US" altLang="zh-CN" sz="3200">
                <a:sym typeface="+mn-ea"/>
              </a:rPr>
              <a:t>e</a:t>
            </a:r>
            <a:r>
              <a:rPr lang="en-US" altLang="en-US" sz="3200">
                <a:sym typeface="+mn-ea"/>
              </a:rPr>
              <a:t>ɪ</a:t>
            </a:r>
            <a:r>
              <a:rPr lang="en-US" altLang="zh-CN" sz="3200">
                <a:sym typeface="+mn-ea"/>
              </a:rPr>
              <a:t>v</a:t>
            </a:r>
            <a:r>
              <a:rPr lang="en-US" altLang="en-US" sz="3200">
                <a:sym typeface="+mn-ea"/>
              </a:rPr>
              <a:t>ɪˌ</a:t>
            </a:r>
            <a:r>
              <a:rPr lang="en-US" altLang="zh-CN" sz="3200">
                <a:sym typeface="+mn-ea"/>
              </a:rPr>
              <a:t>e</a:t>
            </a:r>
            <a:r>
              <a:rPr lang="en-US" altLang="en-US" sz="3200">
                <a:sym typeface="+mn-ea"/>
              </a:rPr>
              <a:t>ɪ</a:t>
            </a:r>
            <a:r>
              <a:rPr lang="en-US" altLang="zh-CN" sz="3200">
                <a:sym typeface="+mn-ea"/>
              </a:rPr>
              <a:t>t/</a:t>
            </a:r>
            <a:endParaRPr lang="zh-CN" altLang="en-US" sz="3200"/>
          </a:p>
          <a:p>
            <a:pPr>
              <a:lnSpc>
                <a:spcPct val="150000"/>
              </a:lnSpc>
            </a:pPr>
            <a:r>
              <a:rPr lang="en-US" altLang="zh-CN" sz="3200" b="1">
                <a:solidFill>
                  <a:srgbClr val="FF0000"/>
                </a:solidFill>
                <a:sym typeface="+mn-ea"/>
              </a:rPr>
              <a:t>aviation</a:t>
            </a:r>
            <a:r>
              <a:rPr lang="en-US" altLang="zh-CN" sz="3200">
                <a:sym typeface="+mn-ea"/>
              </a:rPr>
              <a:t> /</a:t>
            </a:r>
            <a:r>
              <a:rPr lang="en-US" altLang="en-US" sz="3200">
                <a:sym typeface="+mn-ea"/>
              </a:rPr>
              <a:t>ˌ</a:t>
            </a:r>
            <a:r>
              <a:rPr lang="en-US" altLang="zh-CN" sz="3200">
                <a:sym typeface="+mn-ea"/>
              </a:rPr>
              <a:t>e</a:t>
            </a:r>
            <a:r>
              <a:rPr lang="en-US" altLang="en-US" sz="3200">
                <a:sym typeface="+mn-ea"/>
              </a:rPr>
              <a:t>ɪ</a:t>
            </a:r>
            <a:r>
              <a:rPr lang="en-US" altLang="zh-CN" sz="3200">
                <a:sym typeface="+mn-ea"/>
              </a:rPr>
              <a:t>vi</a:t>
            </a:r>
            <a:r>
              <a:rPr lang="en-US" altLang="en-US" sz="3200">
                <a:sym typeface="+mn-ea"/>
              </a:rPr>
              <a:t>ˈ</a:t>
            </a:r>
            <a:r>
              <a:rPr lang="en-US" altLang="zh-CN" sz="3200">
                <a:sym typeface="+mn-ea"/>
              </a:rPr>
              <a:t>e</a:t>
            </a:r>
            <a:r>
              <a:rPr lang="en-US" altLang="en-US" sz="3200">
                <a:sym typeface="+mn-ea"/>
              </a:rPr>
              <a:t>ɪʃ</a:t>
            </a:r>
            <a:r>
              <a:rPr lang="en-US" altLang="zh-CN" sz="3200">
                <a:sym typeface="+mn-ea"/>
              </a:rPr>
              <a:t>n/</a:t>
            </a:r>
            <a:endParaRPr lang="zh-CN" altLang="en-US" sz="3200"/>
          </a:p>
          <a:p>
            <a:pPr>
              <a:lnSpc>
                <a:spcPct val="150000"/>
              </a:lnSpc>
            </a:pPr>
            <a:r>
              <a:rPr lang="en-US" altLang="zh-CN" sz="3200" b="1">
                <a:solidFill>
                  <a:srgbClr val="FF0000"/>
                </a:solidFill>
                <a:sym typeface="+mn-ea"/>
              </a:rPr>
              <a:t>aviator</a:t>
            </a:r>
            <a:r>
              <a:rPr lang="en-US" altLang="zh-CN" sz="3200">
                <a:sym typeface="+mn-ea"/>
              </a:rPr>
              <a:t> /</a:t>
            </a:r>
            <a:r>
              <a:rPr lang="en-US" altLang="en-US" sz="3200">
                <a:sym typeface="+mn-ea"/>
              </a:rPr>
              <a:t>ˈ</a:t>
            </a:r>
            <a:r>
              <a:rPr lang="en-US" altLang="zh-CN" sz="3200">
                <a:sym typeface="+mn-ea"/>
              </a:rPr>
              <a:t>e</a:t>
            </a:r>
            <a:r>
              <a:rPr lang="en-US" altLang="en-US" sz="3200">
                <a:sym typeface="+mn-ea"/>
              </a:rPr>
              <a:t>ɪ</a:t>
            </a:r>
            <a:r>
              <a:rPr lang="en-US" altLang="zh-CN" sz="3200">
                <a:sym typeface="+mn-ea"/>
              </a:rPr>
              <a:t>vie</a:t>
            </a:r>
            <a:r>
              <a:rPr lang="en-US" altLang="en-US" sz="3200">
                <a:sym typeface="+mn-ea"/>
              </a:rPr>
              <a:t>ɪ</a:t>
            </a:r>
            <a:r>
              <a:rPr lang="en-US" altLang="zh-CN" sz="3200">
                <a:sym typeface="+mn-ea"/>
              </a:rPr>
              <a:t>t</a:t>
            </a:r>
            <a:r>
              <a:rPr lang="en-US" altLang="en-US" sz="3200">
                <a:sym typeface="+mn-ea"/>
              </a:rPr>
              <a:t>ə</a:t>
            </a:r>
            <a:r>
              <a:rPr lang="en-US" altLang="zh-CN" sz="3200">
                <a:sym typeface="+mn-ea"/>
              </a:rPr>
              <a:t>(r)/</a:t>
            </a:r>
            <a:endParaRPr lang="zh-CN" altLang="en-US" sz="3200"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3200" b="1">
                <a:solidFill>
                  <a:srgbClr val="FF0000"/>
                </a:solidFill>
                <a:sym typeface="+mn-ea"/>
              </a:rPr>
              <a:t>aviatress</a:t>
            </a:r>
            <a:r>
              <a:rPr lang="en-US" altLang="zh-CN" sz="3200">
                <a:sym typeface="+mn-ea"/>
              </a:rPr>
              <a:t> /</a:t>
            </a:r>
            <a:r>
              <a:rPr lang="en-US" altLang="en-US" sz="3200">
                <a:sym typeface="+mn-ea"/>
              </a:rPr>
              <a:t>ˈ</a:t>
            </a:r>
            <a:r>
              <a:rPr lang="en-US" altLang="zh-CN" sz="3200">
                <a:sym typeface="+mn-ea"/>
              </a:rPr>
              <a:t>e</a:t>
            </a:r>
            <a:r>
              <a:rPr lang="en-US" altLang="en-US" sz="3200">
                <a:sym typeface="+mn-ea"/>
              </a:rPr>
              <a:t>ɪ</a:t>
            </a:r>
            <a:r>
              <a:rPr lang="en-US" altLang="zh-CN" sz="3200">
                <a:sym typeface="+mn-ea"/>
              </a:rPr>
              <a:t>vi</a:t>
            </a:r>
            <a:r>
              <a:rPr lang="en-US" altLang="en-US" sz="3200">
                <a:sym typeface="+mn-ea"/>
              </a:rPr>
              <a:t>ə</a:t>
            </a:r>
            <a:r>
              <a:rPr lang="en-US" altLang="zh-CN" sz="3200">
                <a:sym typeface="+mn-ea"/>
              </a:rPr>
              <a:t>tr</a:t>
            </a:r>
            <a:r>
              <a:rPr lang="en-US" altLang="en-US" sz="3200">
                <a:sym typeface="+mn-ea"/>
              </a:rPr>
              <a:t>ə</a:t>
            </a:r>
            <a:r>
              <a:rPr lang="en-US" altLang="zh-CN" sz="3200">
                <a:sym typeface="+mn-ea"/>
              </a:rPr>
              <a:t>s/</a:t>
            </a:r>
            <a:endParaRPr lang="zh-CN" altLang="en-US" sz="3200"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3200" b="1">
                <a:solidFill>
                  <a:srgbClr val="FF0000"/>
                </a:solidFill>
                <a:sym typeface="+mn-ea"/>
              </a:rPr>
              <a:t>aviatrix</a:t>
            </a:r>
            <a:r>
              <a:rPr lang="en-US" altLang="zh-CN" sz="3200">
                <a:sym typeface="+mn-ea"/>
              </a:rPr>
              <a:t> /</a:t>
            </a:r>
            <a:r>
              <a:rPr lang="en-US" altLang="en-US" sz="3200">
                <a:sym typeface="+mn-ea"/>
              </a:rPr>
              <a:t>ˈ</a:t>
            </a:r>
            <a:r>
              <a:rPr lang="en-US" altLang="zh-CN" sz="3200">
                <a:sym typeface="+mn-ea"/>
              </a:rPr>
              <a:t>e</a:t>
            </a:r>
            <a:r>
              <a:rPr lang="en-US" altLang="en-US" sz="3200">
                <a:sym typeface="+mn-ea"/>
              </a:rPr>
              <a:t>ɪ</a:t>
            </a:r>
            <a:r>
              <a:rPr lang="en-US" altLang="zh-CN" sz="3200">
                <a:sym typeface="+mn-ea"/>
              </a:rPr>
              <a:t>v</a:t>
            </a:r>
            <a:r>
              <a:rPr lang="en-US" altLang="en-US" sz="3200">
                <a:sym typeface="+mn-ea"/>
              </a:rPr>
              <a:t>ɪˌ</a:t>
            </a:r>
            <a:r>
              <a:rPr lang="en-US" altLang="zh-CN" sz="3200">
                <a:sym typeface="+mn-ea"/>
              </a:rPr>
              <a:t>e</a:t>
            </a:r>
            <a:r>
              <a:rPr lang="en-US" altLang="en-US" sz="3200">
                <a:sym typeface="+mn-ea"/>
              </a:rPr>
              <a:t>ɪ</a:t>
            </a:r>
            <a:r>
              <a:rPr lang="en-US" altLang="zh-CN" sz="3200">
                <a:sym typeface="+mn-ea"/>
              </a:rPr>
              <a:t>tr</a:t>
            </a:r>
            <a:r>
              <a:rPr lang="en-US" altLang="en-US" sz="3200">
                <a:sym typeface="+mn-ea"/>
              </a:rPr>
              <a:t>ɪ</a:t>
            </a:r>
            <a:r>
              <a:rPr lang="en-US" altLang="zh-CN" sz="3200">
                <a:sym typeface="+mn-ea"/>
              </a:rPr>
              <a:t>ks/</a:t>
            </a:r>
            <a:endParaRPr lang="zh-CN" altLang="en-US" sz="3200"/>
          </a:p>
          <a:p>
            <a:pPr>
              <a:lnSpc>
                <a:spcPct val="150000"/>
              </a:lnSpc>
            </a:pPr>
            <a:endParaRPr lang="zh-CN" altLang="en-US" sz="3200"/>
          </a:p>
        </p:txBody>
      </p:sp>
      <p:sp>
        <p:nvSpPr>
          <p:cNvPr id="34" name="文本框 33"/>
          <p:cNvSpPr txBox="1"/>
          <p:nvPr/>
        </p:nvSpPr>
        <p:spPr>
          <a:xfrm>
            <a:off x="944245" y="1503045"/>
            <a:ext cx="4148455" cy="436880"/>
          </a:xfrm>
          <a:prstGeom prst="rect">
            <a:avLst/>
          </a:prstGeom>
        </p:spPr>
        <p:txBody>
          <a:bodyPr>
            <a:noAutofit/>
          </a:bodyPr>
          <a:p>
            <a:pPr marL="0" indent="0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4000" b="1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词根</a:t>
            </a:r>
            <a:r>
              <a:rPr lang="en-US" altLang="zh-CN" sz="4000" b="1" i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av</a:t>
            </a:r>
            <a:r>
              <a:rPr lang="en-US" altLang="zh-CN" sz="4000" b="1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zh-CN" altLang="en-US" sz="4000" b="1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飞行</a:t>
            </a:r>
            <a:endParaRPr lang="zh-CN" altLang="en-US" sz="4000" b="1" i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579235" y="921385"/>
            <a:ext cx="6096000" cy="24536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20000"/>
              </a:lnSpc>
            </a:pPr>
            <a:r>
              <a:rPr lang="en-US" altLang="zh-CN" sz="3200" b="1">
                <a:solidFill>
                  <a:srgbClr val="FF0000"/>
                </a:solidFill>
                <a:sym typeface="+mn-ea"/>
              </a:rPr>
              <a:t>avian</a:t>
            </a:r>
            <a:r>
              <a:rPr lang="en-US" altLang="zh-CN" sz="3200">
                <a:sym typeface="+mn-ea"/>
              </a:rPr>
              <a:t> /</a:t>
            </a:r>
            <a:r>
              <a:rPr lang="en-US" altLang="en-US" sz="3200">
                <a:sym typeface="+mn-ea"/>
              </a:rPr>
              <a:t>ˈ</a:t>
            </a:r>
            <a:r>
              <a:rPr lang="en-US" altLang="zh-CN" sz="3200">
                <a:sym typeface="+mn-ea"/>
              </a:rPr>
              <a:t>e</a:t>
            </a:r>
            <a:r>
              <a:rPr lang="en-US" altLang="en-US" sz="3200">
                <a:sym typeface="+mn-ea"/>
              </a:rPr>
              <a:t>ɪ</a:t>
            </a:r>
            <a:r>
              <a:rPr lang="en-US" altLang="zh-CN" sz="3200">
                <a:sym typeface="+mn-ea"/>
              </a:rPr>
              <a:t>vi</a:t>
            </a:r>
            <a:r>
              <a:rPr lang="en-US" altLang="en-US" sz="3200">
                <a:sym typeface="+mn-ea"/>
              </a:rPr>
              <a:t>ə</a:t>
            </a:r>
            <a:r>
              <a:rPr lang="en-US" altLang="zh-CN" sz="3200">
                <a:sym typeface="+mn-ea"/>
              </a:rPr>
              <a:t>n/</a:t>
            </a:r>
            <a:endParaRPr lang="zh-CN" altLang="en-US" sz="3200"/>
          </a:p>
          <a:p>
            <a:pPr>
              <a:lnSpc>
                <a:spcPct val="120000"/>
              </a:lnSpc>
            </a:pPr>
            <a:r>
              <a:rPr lang="en-US" altLang="zh-CN" sz="3200" b="1">
                <a:solidFill>
                  <a:srgbClr val="FF0000"/>
                </a:solidFill>
                <a:sym typeface="+mn-ea"/>
              </a:rPr>
              <a:t>aviary</a:t>
            </a:r>
            <a:r>
              <a:rPr lang="en-US" altLang="zh-CN" sz="3200">
                <a:sym typeface="+mn-ea"/>
              </a:rPr>
              <a:t> /</a:t>
            </a:r>
            <a:r>
              <a:rPr lang="en-US" altLang="en-US" sz="3200">
                <a:sym typeface="+mn-ea"/>
              </a:rPr>
              <a:t>ˈ</a:t>
            </a:r>
            <a:r>
              <a:rPr lang="en-US" altLang="zh-CN" sz="3200">
                <a:sym typeface="+mn-ea"/>
              </a:rPr>
              <a:t>e</a:t>
            </a:r>
            <a:r>
              <a:rPr lang="en-US" altLang="en-US" sz="3200">
                <a:sym typeface="+mn-ea"/>
              </a:rPr>
              <a:t>ɪ</a:t>
            </a:r>
            <a:r>
              <a:rPr lang="en-US" altLang="zh-CN" sz="3200">
                <a:sym typeface="+mn-ea"/>
              </a:rPr>
              <a:t>vi</a:t>
            </a:r>
            <a:r>
              <a:rPr lang="en-US" altLang="en-US" sz="3200">
                <a:sym typeface="+mn-ea"/>
              </a:rPr>
              <a:t>ə</a:t>
            </a:r>
            <a:r>
              <a:rPr lang="en-US" altLang="zh-CN" sz="3200">
                <a:sym typeface="+mn-ea"/>
              </a:rPr>
              <a:t>ri/</a:t>
            </a:r>
            <a:endParaRPr lang="en-US" altLang="zh-CN" sz="3200"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en-US" altLang="zh-CN" sz="3200" b="1">
                <a:solidFill>
                  <a:srgbClr val="FF0000"/>
                </a:solidFill>
                <a:sym typeface="+mn-ea"/>
              </a:rPr>
              <a:t>aviculture</a:t>
            </a:r>
            <a:r>
              <a:rPr lang="en-US" altLang="zh-CN" sz="3200">
                <a:sym typeface="+mn-ea"/>
              </a:rPr>
              <a:t> /</a:t>
            </a:r>
            <a:r>
              <a:rPr lang="en-US" altLang="en-US" sz="3200">
                <a:sym typeface="+mn-ea"/>
              </a:rPr>
              <a:t>ˌ</a:t>
            </a:r>
            <a:r>
              <a:rPr lang="en-US" altLang="zh-CN" sz="3200">
                <a:sym typeface="+mn-ea"/>
              </a:rPr>
              <a:t>e</a:t>
            </a:r>
            <a:r>
              <a:rPr lang="en-US" altLang="en-US" sz="3200">
                <a:sym typeface="+mn-ea"/>
              </a:rPr>
              <a:t>ɪ</a:t>
            </a:r>
            <a:r>
              <a:rPr lang="en-US" altLang="zh-CN" sz="3200">
                <a:sym typeface="+mn-ea"/>
              </a:rPr>
              <a:t>vi</a:t>
            </a:r>
            <a:r>
              <a:rPr lang="en-US" altLang="en-US" sz="3200">
                <a:sym typeface="+mn-ea"/>
              </a:rPr>
              <a:t>ˈ</a:t>
            </a:r>
            <a:r>
              <a:rPr lang="en-US" altLang="zh-CN" sz="3200">
                <a:sym typeface="+mn-ea"/>
              </a:rPr>
              <a:t>e</a:t>
            </a:r>
            <a:r>
              <a:rPr lang="en-US" altLang="en-US" sz="3200">
                <a:sym typeface="+mn-ea"/>
              </a:rPr>
              <a:t>ɪʃ</a:t>
            </a:r>
            <a:r>
              <a:rPr lang="en-US" altLang="zh-CN" sz="3200">
                <a:sym typeface="+mn-ea"/>
              </a:rPr>
              <a:t>n/</a:t>
            </a:r>
            <a:endParaRPr lang="zh-CN" altLang="en-US" sz="3200"/>
          </a:p>
          <a:p>
            <a:pPr>
              <a:lnSpc>
                <a:spcPct val="120000"/>
              </a:lnSpc>
            </a:pPr>
            <a:r>
              <a:rPr lang="en-US" altLang="zh-CN" sz="3200" b="1">
                <a:solidFill>
                  <a:srgbClr val="FF0000"/>
                </a:solidFill>
                <a:sym typeface="+mn-ea"/>
              </a:rPr>
              <a:t>aviarist</a:t>
            </a:r>
            <a:r>
              <a:rPr lang="en-US" altLang="zh-CN" sz="3200">
                <a:sym typeface="+mn-ea"/>
              </a:rPr>
              <a:t> /'e</a:t>
            </a:r>
            <a:r>
              <a:rPr lang="en-US" altLang="en-US" sz="3200">
                <a:sym typeface="+mn-ea"/>
              </a:rPr>
              <a:t>ɪ</a:t>
            </a:r>
            <a:r>
              <a:rPr lang="en-US" altLang="zh-CN" sz="3200">
                <a:sym typeface="+mn-ea"/>
              </a:rPr>
              <a:t>vj</a:t>
            </a:r>
            <a:r>
              <a:rPr lang="en-US" altLang="en-US" sz="3200">
                <a:sym typeface="+mn-ea"/>
              </a:rPr>
              <a:t>ə</a:t>
            </a:r>
            <a:r>
              <a:rPr lang="en-US" altLang="zh-CN" sz="3200">
                <a:sym typeface="+mn-ea"/>
              </a:rPr>
              <a:t>r</a:t>
            </a:r>
            <a:r>
              <a:rPr lang="en-US" altLang="en-US" sz="3200">
                <a:sym typeface="+mn-ea"/>
              </a:rPr>
              <a:t>ɪ</a:t>
            </a:r>
            <a:r>
              <a:rPr lang="en-US" altLang="zh-CN" sz="3200">
                <a:sym typeface="+mn-ea"/>
              </a:rPr>
              <a:t>st/</a:t>
            </a:r>
            <a:endParaRPr lang="en-US" altLang="zh-CN" sz="3200"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459980" y="484505"/>
            <a:ext cx="4148455" cy="436880"/>
          </a:xfrm>
          <a:prstGeom prst="rect">
            <a:avLst/>
          </a:prstGeom>
        </p:spPr>
        <p:txBody>
          <a:bodyPr>
            <a:noAutofit/>
          </a:bodyPr>
          <a:p>
            <a:pPr marL="0" indent="0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3600" b="1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词根</a:t>
            </a:r>
            <a:r>
              <a:rPr lang="en-US" altLang="zh-CN" sz="3600" b="1" i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av</a:t>
            </a:r>
            <a:r>
              <a:rPr lang="en-US" altLang="zh-CN" sz="3600" b="1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zh-CN" altLang="en-US" sz="3600" b="1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鸟</a:t>
            </a:r>
            <a:endParaRPr lang="zh-CN" altLang="en-US" sz="3600" b="1" i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9" name="Image 3" descr="preencoded.png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6353810" y="3773805"/>
            <a:ext cx="5196840" cy="274002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6579235" y="4358640"/>
            <a:ext cx="4923155" cy="20110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30000"/>
              </a:lnSpc>
            </a:pPr>
            <a:r>
              <a:rPr lang="en-US" altLang="zh-CN" sz="3200" b="1">
                <a:solidFill>
                  <a:srgbClr val="FF0000"/>
                </a:solidFill>
                <a:sym typeface="+mn-ea"/>
              </a:rPr>
              <a:t>avid</a:t>
            </a:r>
            <a:r>
              <a:rPr lang="en-US" altLang="zh-CN" sz="3200">
                <a:sym typeface="+mn-ea"/>
              </a:rPr>
              <a:t> /</a:t>
            </a:r>
            <a:r>
              <a:rPr lang="en-US" altLang="en-US" sz="3200">
                <a:sym typeface="+mn-ea"/>
              </a:rPr>
              <a:t>ˈæ</a:t>
            </a:r>
            <a:r>
              <a:rPr lang="en-US" altLang="zh-CN" sz="3200">
                <a:sym typeface="+mn-ea"/>
              </a:rPr>
              <a:t>v</a:t>
            </a:r>
            <a:r>
              <a:rPr lang="en-US" altLang="en-US" sz="3200">
                <a:sym typeface="+mn-ea"/>
              </a:rPr>
              <a:t>ɪ</a:t>
            </a:r>
            <a:r>
              <a:rPr lang="en-US" altLang="zh-CN" sz="3200">
                <a:sym typeface="+mn-ea"/>
              </a:rPr>
              <a:t>d/</a:t>
            </a:r>
            <a:endParaRPr lang="zh-CN" altLang="en-US" sz="3200"/>
          </a:p>
          <a:p>
            <a:pPr>
              <a:lnSpc>
                <a:spcPct val="130000"/>
              </a:lnSpc>
            </a:pPr>
            <a:r>
              <a:rPr lang="en-US" altLang="zh-CN" sz="3200" b="1">
                <a:solidFill>
                  <a:srgbClr val="FF0000"/>
                </a:solidFill>
                <a:sym typeface="+mn-ea"/>
              </a:rPr>
              <a:t>avarice</a:t>
            </a:r>
            <a:r>
              <a:rPr lang="en-US" altLang="zh-CN" sz="3200">
                <a:sym typeface="+mn-ea"/>
              </a:rPr>
              <a:t> /</a:t>
            </a:r>
            <a:r>
              <a:rPr lang="en-US" altLang="en-US" sz="3200">
                <a:sym typeface="+mn-ea"/>
              </a:rPr>
              <a:t>ˈæ</a:t>
            </a:r>
            <a:r>
              <a:rPr lang="en-US" altLang="zh-CN" sz="3200">
                <a:sym typeface="+mn-ea"/>
              </a:rPr>
              <a:t>v</a:t>
            </a:r>
            <a:r>
              <a:rPr lang="en-US" altLang="en-US" sz="3200">
                <a:sym typeface="+mn-ea"/>
              </a:rPr>
              <a:t>ə</a:t>
            </a:r>
            <a:r>
              <a:rPr lang="en-US" altLang="zh-CN" sz="3200">
                <a:sym typeface="+mn-ea"/>
              </a:rPr>
              <a:t>r</a:t>
            </a:r>
            <a:r>
              <a:rPr lang="en-US" altLang="en-US" sz="3200">
                <a:sym typeface="+mn-ea"/>
              </a:rPr>
              <a:t>ɪ</a:t>
            </a:r>
            <a:r>
              <a:rPr lang="en-US" altLang="zh-CN" sz="3200">
                <a:sym typeface="+mn-ea"/>
              </a:rPr>
              <a:t>s/</a:t>
            </a:r>
            <a:endParaRPr lang="zh-CN" altLang="en-US" sz="3200"/>
          </a:p>
          <a:p>
            <a:pPr algn="l">
              <a:lnSpc>
                <a:spcPct val="130000"/>
              </a:lnSpc>
              <a:buClrTx/>
              <a:buSzTx/>
              <a:buFontTx/>
            </a:pPr>
            <a:r>
              <a:rPr lang="en-US" altLang="zh-CN" sz="3200" b="1">
                <a:solidFill>
                  <a:srgbClr val="FF0000"/>
                </a:solidFill>
                <a:sym typeface="+mn-ea"/>
              </a:rPr>
              <a:t>avaricious</a:t>
            </a:r>
            <a:r>
              <a:rPr lang="en-US" altLang="zh-CN" sz="3200">
                <a:latin typeface="Times New Roman" panose="02020603050405020304"/>
                <a:ea typeface="华文楷体" panose="02010600040101010101" charset="-122"/>
                <a:sym typeface="+mn-ea"/>
              </a:rPr>
              <a:t> </a:t>
            </a:r>
            <a:r>
              <a:rPr lang="zh-CN" altLang="en-US" sz="3200">
                <a:sym typeface="+mn-ea"/>
              </a:rPr>
              <a:t>/ˌævəˈrɪʃəs/</a:t>
            </a:r>
            <a:endParaRPr lang="zh-CN" altLang="en-US" sz="3200"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801485" y="3921760"/>
            <a:ext cx="4566285" cy="436880"/>
          </a:xfrm>
          <a:prstGeom prst="rect">
            <a:avLst/>
          </a:prstGeom>
        </p:spPr>
        <p:txBody>
          <a:bodyPr>
            <a:noAutofit/>
          </a:bodyPr>
          <a:p>
            <a:pPr marL="0" indent="0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词根</a:t>
            </a:r>
            <a:r>
              <a:rPr lang="en-US" altLang="zh-CN" sz="2800" b="1" i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av</a:t>
            </a:r>
            <a:r>
              <a:rPr lang="en-US" altLang="zh-CN" sz="2800" b="1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zh-CN" altLang="en-US" sz="28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渴求；渴望；贪婪</a:t>
            </a:r>
            <a:endParaRPr lang="zh-CN" altLang="en-US" sz="2800" b="1" i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7" grpId="0"/>
      <p:bldP spid="6" grpId="0"/>
    </p:bldLst>
  </p:timing>
</p:sld>
</file>

<file path=ppt/tags/tag1.xml><?xml version="1.0" encoding="utf-8"?>
<p:tagLst xmlns:p="http://schemas.openxmlformats.org/presentationml/2006/main">
  <p:tag name="KSO_WM_DIAGRAM_VIRTUALLY_FRAME" val="{&quot;height&quot;:219,&quot;left&quot;:48,&quot;top&quot;:178.5,&quot;width&quot;:739.2}"/>
</p:tagLst>
</file>

<file path=ppt/tags/tag2.xml><?xml version="1.0" encoding="utf-8"?>
<p:tagLst xmlns:p="http://schemas.openxmlformats.org/presentationml/2006/main">
  <p:tag name="KSO_WM_DIAGRAM_VIRTUALLY_FRAME" val="{&quot;height&quot;:219,&quot;left&quot;:48,&quot;top&quot;:178.5,&quot;width&quot;:739.2}"/>
</p:tagLst>
</file>

<file path=ppt/tags/tag3.xml><?xml version="1.0" encoding="utf-8"?>
<p:tagLst xmlns:p="http://schemas.openxmlformats.org/presentationml/2006/main">
  <p:tag name="KSO_WM_DIAGRAM_VIRTUALLY_FRAME" val="{&quot;height&quot;:427.25,&quot;left&quot;:48,&quot;top&quot;:77.3,&quot;width&quot;:914.4960629921261}"/>
</p:tagLst>
</file>

<file path=ppt/tags/tag4.xml><?xml version="1.0" encoding="utf-8"?>
<p:tagLst xmlns:p="http://schemas.openxmlformats.org/presentationml/2006/main">
  <p:tag name="KSO_WM_DIAGRAM_VIRTUALLY_FRAME" val="{&quot;height&quot;:427.25,&quot;left&quot;:48,&quot;top&quot;:77.3,&quot;width&quot;:914.4960629921261}"/>
</p:tagLst>
</file>

<file path=ppt/tags/tag5.xml><?xml version="1.0" encoding="utf-8"?>
<p:tagLst xmlns:p="http://schemas.openxmlformats.org/presentationml/2006/main">
  <p:tag name="KSO_WM_DIAGRAM_VIRTUALLY_FRAME" val="{&quot;height&quot;:427.25,&quot;left&quot;:48,&quot;top&quot;:77.3,&quot;width&quot;:914.4960629921261}"/>
</p:tagLst>
</file>

<file path=ppt/tags/tag6.xml><?xml version="1.0" encoding="utf-8"?>
<p:tagLst xmlns:p="http://schemas.openxmlformats.org/presentationml/2006/main">
  <p:tag name="KSO_WM_DIAGRAM_VIRTUALLY_FRAME" val="{&quot;height&quot;:427.25,&quot;left&quot;:48,&quot;top&quot;:77.3,&quot;width&quot;:914.4960629921261}"/>
</p:tagLst>
</file>

<file path=ppt/tags/tag7.xml><?xml version="1.0" encoding="utf-8"?>
<p:tagLst xmlns:p="http://schemas.openxmlformats.org/presentationml/2006/main">
  <p:tag name="KSO_WM_DIAGRAM_VIRTUALLY_FRAME" val="{&quot;height&quot;:427.25,&quot;left&quot;:48,&quot;top&quot;:77.3,&quot;width&quot;:914.4960629921261}"/>
</p:tagLst>
</file>

<file path=ppt/tags/tag8.xml><?xml version="1.0" encoding="utf-8"?>
<p:tagLst xmlns:p="http://schemas.openxmlformats.org/presentationml/2006/main">
  <p:tag name="KSO_WM_DIAGRAM_VIRTUALLY_FRAME" val="{&quot;height&quot;:427.25,&quot;left&quot;:48,&quot;top&quot;:77.3,&quot;width&quot;:914.4960629921261}"/>
</p:tagLst>
</file>

<file path=ppt/tags/tag9.xml><?xml version="1.0" encoding="utf-8"?>
<p:tagLst xmlns:p="http://schemas.openxmlformats.org/presentationml/2006/main">
  <p:tag name="KSO_WM_DIAGRAM_VIRTUALLY_FRAME" val="{&quot;height&quot;:427.25,&quot;left&quot;:48,&quot;top&quot;:77.3,&quot;width&quot;:914.4960629921261}"/>
</p:tagLst>
</file>

<file path=ppt/tags/tag10.xml><?xml version="1.0" encoding="utf-8"?>
<p:tagLst xmlns:p="http://schemas.openxmlformats.org/presentationml/2006/main">
  <p:tag name="KSO_WM_DIAGRAM_VIRTUALLY_FRAME" val="{&quot;height&quot;:427.25,&quot;left&quot;:48,&quot;top&quot;:77.3,&quot;width&quot;:914.4960629921261}"/>
</p:tagLst>
</file>

<file path=ppt/tags/tag11.xml><?xml version="1.0" encoding="utf-8"?>
<p:tagLst xmlns:p="http://schemas.openxmlformats.org/presentationml/2006/main">
  <p:tag name="KSO_WM_DIAGRAM_VIRTUALLY_FRAME" val="{&quot;height&quot;:384.637606787595,&quot;left&quot;:48,&quot;top&quot;:48,&quot;width&quot;:1101.4}"/>
</p:tagLst>
</file>

<file path=ppt/tags/tag12.xml><?xml version="1.0" encoding="utf-8"?>
<p:tagLst xmlns:p="http://schemas.openxmlformats.org/presentationml/2006/main">
  <p:tag name="KSO_WM_DIAGRAM_VIRTUALLY_FRAME" val="{&quot;height&quot;:384.637606787595,&quot;left&quot;:48,&quot;top&quot;:48,&quot;width&quot;:1101.4}"/>
</p:tagLst>
</file>

<file path=ppt/tags/tag13.xml><?xml version="1.0" encoding="utf-8"?>
<p:tagLst xmlns:p="http://schemas.openxmlformats.org/presentationml/2006/main">
  <p:tag name="KSO_WM_DIAGRAM_VIRTUALLY_FRAME" val="{&quot;height&quot;:384.637606787595,&quot;left&quot;:48,&quot;top&quot;:48,&quot;width&quot;:1101.4}"/>
</p:tagLst>
</file>

<file path=ppt/tags/tag14.xml><?xml version="1.0" encoding="utf-8"?>
<p:tagLst xmlns:p="http://schemas.openxmlformats.org/presentationml/2006/main">
  <p:tag name="KSO_WM_DIAGRAM_VIRTUALLY_FRAME" val="{&quot;height&quot;:384.637606787595,&quot;left&quot;:48,&quot;top&quot;:48,&quot;width&quot;:1101.4}"/>
</p:tagLst>
</file>

<file path=ppt/tags/tag15.xml><?xml version="1.0" encoding="utf-8"?>
<p:tagLst xmlns:p="http://schemas.openxmlformats.org/presentationml/2006/main">
  <p:tag name="KSO_WM_DIAGRAM_VIRTUALLY_FRAME" val="{&quot;height&quot;:384.637606787595,&quot;left&quot;:48,&quot;top&quot;:48,&quot;width&quot;:1101.4}"/>
</p:tagLst>
</file>

<file path=ppt/tags/tag16.xml><?xml version="1.0" encoding="utf-8"?>
<p:tagLst xmlns:p="http://schemas.openxmlformats.org/presentationml/2006/main">
  <p:tag name="KSO_WM_DIAGRAM_VIRTUALLY_FRAME" val="{&quot;height&quot;:384.637606787595,&quot;left&quot;:48,&quot;top&quot;:48,&quot;width&quot;:1101.4}"/>
</p:tagLst>
</file>

<file path=ppt/tags/tag17.xml><?xml version="1.0" encoding="utf-8"?>
<p:tagLst xmlns:p="http://schemas.openxmlformats.org/presentationml/2006/main">
  <p:tag name="KSO_WM_DIAGRAM_VIRTUALLY_FRAME" val="{&quot;height&quot;:384.637606787595,&quot;left&quot;:48,&quot;top&quot;:48,&quot;width&quot;:1101.4}"/>
</p:tagLst>
</file>

<file path=ppt/tags/tag18.xml><?xml version="1.0" encoding="utf-8"?>
<p:tagLst xmlns:p="http://schemas.openxmlformats.org/presentationml/2006/main">
  <p:tag name="KSO_WM_DIAGRAM_VIRTUALLY_FRAME" val="{&quot;height&quot;:384.637606787595,&quot;left&quot;:48,&quot;top&quot;:48,&quot;width&quot;:1101.4}"/>
</p:tagLst>
</file>

<file path=ppt/tags/tag19.xml><?xml version="1.0" encoding="utf-8"?>
<p:tagLst xmlns:p="http://schemas.openxmlformats.org/presentationml/2006/main">
  <p:tag name="KSO_WM_DIAGRAM_VIRTUALLY_FRAME" val="{&quot;height&quot;:384.637606787595,&quot;left&quot;:48,&quot;top&quot;:48,&quot;width&quot;:1101.4}"/>
</p:tagLst>
</file>

<file path=ppt/tags/tag20.xml><?xml version="1.0" encoding="utf-8"?>
<p:tagLst xmlns:p="http://schemas.openxmlformats.org/presentationml/2006/main">
  <p:tag name="KSO_WM_DIAGRAM_VIRTUALLY_FRAME" val="{&quot;height&quot;:384.637606787595,&quot;left&quot;:48,&quot;top&quot;:48,&quot;width&quot;:1101.4}"/>
</p:tagLst>
</file>

<file path=ppt/tags/tag21.xml><?xml version="1.0" encoding="utf-8"?>
<p:tagLst xmlns:p="http://schemas.openxmlformats.org/presentationml/2006/main">
  <p:tag name="KSO_WM_DIAGRAM_VIRTUALLY_FRAME" val="{&quot;height&quot;:384.637606787595,&quot;left&quot;:48,&quot;top&quot;:48,&quot;width&quot;:1101.4}"/>
</p:tagLst>
</file>

<file path=ppt/tags/tag22.xml><?xml version="1.0" encoding="utf-8"?>
<p:tagLst xmlns:p="http://schemas.openxmlformats.org/presentationml/2006/main">
  <p:tag name="KSO_WM_DIAGRAM_VIRTUALLY_FRAME" val="{&quot;height&quot;:384.637606787595,&quot;left&quot;:48,&quot;top&quot;:48,&quot;width&quot;:1101.4}"/>
</p:tagLst>
</file>

<file path=ppt/tags/tag23.xml><?xml version="1.0" encoding="utf-8"?>
<p:tagLst xmlns:p="http://schemas.openxmlformats.org/presentationml/2006/main">
  <p:tag name="KSO_WM_DIAGRAM_VIRTUALLY_FRAME" val="{&quot;height&quot;:384.637606787595,&quot;left&quot;:48,&quot;top&quot;:48,&quot;width&quot;:1101.4}"/>
</p:tagLst>
</file>

<file path=ppt/tags/tag24.xml><?xml version="1.0" encoding="utf-8"?>
<p:tagLst xmlns:p="http://schemas.openxmlformats.org/presentationml/2006/main">
  <p:tag name="KSO_WM_DIAGRAM_VIRTUALLY_FRAME" val="{&quot;height&quot;:384.637606787595,&quot;left&quot;:48,&quot;top&quot;:48,&quot;width&quot;:1101.4}"/>
</p:tagLst>
</file>

<file path=ppt/tags/tag25.xml><?xml version="1.0" encoding="utf-8"?>
<p:tagLst xmlns:p="http://schemas.openxmlformats.org/presentationml/2006/main">
  <p:tag name="KSO_WM_DIAGRAM_VIRTUALLY_FRAME" val="{&quot;height&quot;:384.637606787595,&quot;left&quot;:48,&quot;top&quot;:48,&quot;width&quot;:1101.4}"/>
</p:tagLst>
</file>

<file path=ppt/tags/tag26.xml><?xml version="1.0" encoding="utf-8"?>
<p:tagLst xmlns:p="http://schemas.openxmlformats.org/presentationml/2006/main">
  <p:tag name="KSO_WM_DIAGRAM_VIRTUALLY_FRAME" val="{&quot;height&quot;:505.7,&quot;left&quot;:96.55,&quot;top&quot;:21.25,&quot;width&quot;:803.8}"/>
</p:tagLst>
</file>

<file path=ppt/tags/tag27.xml><?xml version="1.0" encoding="utf-8"?>
<p:tagLst xmlns:p="http://schemas.openxmlformats.org/presentationml/2006/main">
  <p:tag name="KSO_WM_DIAGRAM_VIRTUALLY_FRAME" val="{&quot;height&quot;:500.8,&quot;left&quot;:48,&quot;top&quot;:77.3,&quot;width&quot;:955.7}"/>
</p:tagLst>
</file>

<file path=ppt/tags/tag28.xml><?xml version="1.0" encoding="utf-8"?>
<p:tagLst xmlns:p="http://schemas.openxmlformats.org/presentationml/2006/main">
  <p:tag name="KSO_WM_DIAGRAM_VIRTUALLY_FRAME" val="{&quot;height&quot;:500.8,&quot;left&quot;:48,&quot;top&quot;:77.3,&quot;width&quot;:955.7}"/>
</p:tagLst>
</file>

<file path=ppt/tags/tag29.xml><?xml version="1.0" encoding="utf-8"?>
<p:tagLst xmlns:p="http://schemas.openxmlformats.org/presentationml/2006/main">
  <p:tag name="KSO_WM_DIAGRAM_VIRTUALLY_FRAME" val="{&quot;height&quot;:500.8,&quot;left&quot;:48,&quot;top&quot;:77.3,&quot;width&quot;:955.7}"/>
</p:tagLst>
</file>

<file path=ppt/tags/tag30.xml><?xml version="1.0" encoding="utf-8"?>
<p:tagLst xmlns:p="http://schemas.openxmlformats.org/presentationml/2006/main">
  <p:tag name="KSO_WM_DIAGRAM_VIRTUALLY_FRAME" val="{&quot;height&quot;:500.8,&quot;left&quot;:48,&quot;top&quot;:77.3,&quot;width&quot;:955.7}"/>
</p:tagLst>
</file>

<file path=ppt/tags/tag31.xml><?xml version="1.0" encoding="utf-8"?>
<p:tagLst xmlns:p="http://schemas.openxmlformats.org/presentationml/2006/main">
  <p:tag name="KSO_WM_DIAGRAM_VIRTUALLY_FRAME" val="{&quot;height&quot;:500.8,&quot;left&quot;:48,&quot;top&quot;:77.3,&quot;width&quot;:955.7}"/>
</p:tagLst>
</file>

<file path=ppt/tags/tag32.xml><?xml version="1.0" encoding="utf-8"?>
<p:tagLst xmlns:p="http://schemas.openxmlformats.org/presentationml/2006/main">
  <p:tag name="KSO_WM_DIAGRAM_VIRTUALLY_FRAME" val="{&quot;height&quot;:500.8,&quot;left&quot;:48,&quot;top&quot;:77.3,&quot;width&quot;:955.7}"/>
</p:tagLst>
</file>

<file path=ppt/tags/tag33.xml><?xml version="1.0" encoding="utf-8"?>
<p:tagLst xmlns:p="http://schemas.openxmlformats.org/presentationml/2006/main">
  <p:tag name="KSO_WM_DIAGRAM_VIRTUALLY_FRAME" val="{&quot;height&quot;:500.8,&quot;left&quot;:48,&quot;top&quot;:77.3,&quot;width&quot;:955.7}"/>
</p:tagLst>
</file>

<file path=ppt/tags/tag34.xml><?xml version="1.0" encoding="utf-8"?>
<p:tagLst xmlns:p="http://schemas.openxmlformats.org/presentationml/2006/main">
  <p:tag name="KSO_WM_DIAGRAM_VIRTUALLY_FRAME" val="{&quot;height&quot;:500.8,&quot;left&quot;:48,&quot;top&quot;:77.3,&quot;width&quot;:955.7}"/>
</p:tagLst>
</file>

<file path=ppt/tags/tag35.xml><?xml version="1.0" encoding="utf-8"?>
<p:tagLst xmlns:p="http://schemas.openxmlformats.org/presentationml/2006/main">
  <p:tag name="KSO_WM_DIAGRAM_VIRTUALLY_FRAME" val="{&quot;height&quot;:500.8,&quot;left&quot;:48,&quot;top&quot;:77.3,&quot;width&quot;:955.7}"/>
</p:tagLst>
</file>

<file path=ppt/tags/tag36.xml><?xml version="1.0" encoding="utf-8"?>
<p:tagLst xmlns:p="http://schemas.openxmlformats.org/presentationml/2006/main">
  <p:tag name="KSO_WM_DIAGRAM_VIRTUALLY_FRAME" val="{&quot;height&quot;:500.8,&quot;left&quot;:48,&quot;top&quot;:77.3,&quot;width&quot;:955.7}"/>
</p:tagLst>
</file>

<file path=ppt/tags/tag37.xml><?xml version="1.0" encoding="utf-8"?>
<p:tagLst xmlns:p="http://schemas.openxmlformats.org/presentationml/2006/main">
  <p:tag name="KSO_WM_DIAGRAM_VIRTUALLY_FRAME" val="{&quot;height&quot;:500.8,&quot;left&quot;:48,&quot;top&quot;:77.3,&quot;width&quot;:955.7}"/>
</p:tagLst>
</file>

<file path=ppt/tags/tag38.xml><?xml version="1.0" encoding="utf-8"?>
<p:tagLst xmlns:p="http://schemas.openxmlformats.org/presentationml/2006/main">
  <p:tag name="KSO_WM_DIAGRAM_VIRTUALLY_FRAME" val="{&quot;height&quot;:500.8,&quot;left&quot;:48,&quot;top&quot;:77.3,&quot;width&quot;:955.7}"/>
</p:tagLst>
</file>

<file path=ppt/tags/tag39.xml><?xml version="1.0" encoding="utf-8"?>
<p:tagLst xmlns:p="http://schemas.openxmlformats.org/presentationml/2006/main">
  <p:tag name="KSO_WM_DIAGRAM_VIRTUALLY_FRAME" val="{&quot;height&quot;:500.8,&quot;left&quot;:48,&quot;top&quot;:77.3,&quot;width&quot;:955.7}"/>
</p:tagLst>
</file>

<file path=ppt/tags/tag40.xml><?xml version="1.0" encoding="utf-8"?>
<p:tagLst xmlns:p="http://schemas.openxmlformats.org/presentationml/2006/main">
  <p:tag name="KSO_WM_DIAGRAM_VIRTUALLY_FRAME" val="{&quot;height&quot;:500.8,&quot;left&quot;:48,&quot;top&quot;:77.3,&quot;width&quot;:955.7}"/>
</p:tagLst>
</file>

<file path=ppt/tags/tag41.xml><?xml version="1.0" encoding="utf-8"?>
<p:tagLst xmlns:p="http://schemas.openxmlformats.org/presentationml/2006/main">
  <p:tag name="KSO_WM_DIAGRAM_VIRTUALLY_FRAME" val="{&quot;height&quot;:500.8,&quot;left&quot;:48,&quot;top&quot;:77.3,&quot;width&quot;:955.7}"/>
</p:tagLst>
</file>

<file path=ppt/tags/tag42.xml><?xml version="1.0" encoding="utf-8"?>
<p:tagLst xmlns:p="http://schemas.openxmlformats.org/presentationml/2006/main">
  <p:tag name="KSO_WM_DIAGRAM_VIRTUALLY_FRAME" val="{&quot;height&quot;:500.8,&quot;left&quot;:48,&quot;top&quot;:77.3,&quot;width&quot;:955.7}"/>
</p:tagLst>
</file>

<file path=ppt/tags/tag43.xml><?xml version="1.0" encoding="utf-8"?>
<p:tagLst xmlns:p="http://schemas.openxmlformats.org/presentationml/2006/main">
  <p:tag name="KSO_WM_DIAGRAM_VIRTUALLY_FRAME" val="{&quot;height&quot;:500.8,&quot;left&quot;:48,&quot;top&quot;:77.3,&quot;width&quot;:955.7}"/>
</p:tagLst>
</file>

<file path=ppt/tags/tag44.xml><?xml version="1.0" encoding="utf-8"?>
<p:tagLst xmlns:p="http://schemas.openxmlformats.org/presentationml/2006/main">
  <p:tag name="KSO_WM_DIAGRAM_VIRTUALLY_FRAME" val="{&quot;height&quot;:500.8,&quot;left&quot;:48,&quot;top&quot;:77.3,&quot;width&quot;:955.7}"/>
</p:tagLst>
</file>

<file path=ppt/tags/tag45.xml><?xml version="1.0" encoding="utf-8"?>
<p:tagLst xmlns:p="http://schemas.openxmlformats.org/presentationml/2006/main">
  <p:tag name="KSO_WM_DIAGRAM_VIRTUALLY_FRAME" val="{&quot;height&quot;:500.8,&quot;left&quot;:48,&quot;top&quot;:77.3,&quot;width&quot;:955.7}"/>
</p:tagLst>
</file>

<file path=ppt/tags/tag46.xml><?xml version="1.0" encoding="utf-8"?>
<p:tagLst xmlns:p="http://schemas.openxmlformats.org/presentationml/2006/main">
  <p:tag name="KSO_WM_DIAGRAM_VIRTUALLY_FRAME" val="{&quot;height&quot;:500.8,&quot;left&quot;:48,&quot;top&quot;:77.3,&quot;width&quot;:955.7}"/>
</p:tagLst>
</file>

<file path=ppt/tags/tag47.xml><?xml version="1.0" encoding="utf-8"?>
<p:tagLst xmlns:p="http://schemas.openxmlformats.org/presentationml/2006/main">
  <p:tag name="KSO_WM_DIAGRAM_VIRTUALLY_FRAME" val="{&quot;height&quot;:500.8,&quot;left&quot;:48,&quot;top&quot;:77.3,&quot;width&quot;:955.7}"/>
</p:tagLst>
</file>

<file path=ppt/tags/tag48.xml><?xml version="1.0" encoding="utf-8"?>
<p:tagLst xmlns:p="http://schemas.openxmlformats.org/presentationml/2006/main">
  <p:tag name="KSO_WM_DIAGRAM_VIRTUALLY_FRAME" val="{&quot;height&quot;:500.8,&quot;left&quot;:48,&quot;top&quot;:77.3,&quot;width&quot;:955.7}"/>
</p:tagLst>
</file>

<file path=ppt/tags/tag49.xml><?xml version="1.0" encoding="utf-8"?>
<p:tagLst xmlns:p="http://schemas.openxmlformats.org/presentationml/2006/main">
  <p:tag name="KSO_WM_DIAGRAM_VIRTUALLY_FRAME" val="{&quot;height&quot;:500.8,&quot;left&quot;:48,&quot;top&quot;:77.3,&quot;width&quot;:955.7}"/>
</p:tagLst>
</file>

<file path=ppt/tags/tag50.xml><?xml version="1.0" encoding="utf-8"?>
<p:tagLst xmlns:p="http://schemas.openxmlformats.org/presentationml/2006/main">
  <p:tag name="KSO_WM_DIAGRAM_VIRTUALLY_FRAME" val="{&quot;height&quot;:500.8,&quot;left&quot;:48,&quot;top&quot;:77.3,&quot;width&quot;:955.7}"/>
</p:tagLst>
</file>

<file path=ppt/tags/tag51.xml><?xml version="1.0" encoding="utf-8"?>
<p:tagLst xmlns:p="http://schemas.openxmlformats.org/presentationml/2006/main">
  <p:tag name="KSO_WM_DIAGRAM_VIRTUALLY_FRAME" val="{&quot;height&quot;:500.8,&quot;left&quot;:48,&quot;top&quot;:77.3,&quot;width&quot;:955.7}"/>
</p:tagLst>
</file>

<file path=ppt/tags/tag52.xml><?xml version="1.0" encoding="utf-8"?>
<p:tagLst xmlns:p="http://schemas.openxmlformats.org/presentationml/2006/main">
  <p:tag name="KSO_WM_DIAGRAM_VIRTUALLY_FRAME" val="{&quot;height&quot;:500.8,&quot;left&quot;:48,&quot;top&quot;:77.3,&quot;width&quot;:955.7}"/>
</p:tagLst>
</file>

<file path=ppt/tags/tag53.xml><?xml version="1.0" encoding="utf-8"?>
<p:tagLst xmlns:p="http://schemas.openxmlformats.org/presentationml/2006/main">
  <p:tag name="KSO_WM_DIAGRAM_VIRTUALLY_FRAME" val="{&quot;height&quot;:500.8,&quot;left&quot;:48,&quot;top&quot;:77.3,&quot;width&quot;:955.7}"/>
</p:tagLst>
</file>

<file path=ppt/tags/tag54.xml><?xml version="1.0" encoding="utf-8"?>
<p:tagLst xmlns:p="http://schemas.openxmlformats.org/presentationml/2006/main">
  <p:tag name="KSO_WM_DIAGRAM_VIRTUALLY_FRAME" val="{&quot;height&quot;:500.8,&quot;left&quot;:48,&quot;top&quot;:77.3,&quot;width&quot;:955.7}"/>
</p:tagLst>
</file>

<file path=ppt/tags/tag55.xml><?xml version="1.0" encoding="utf-8"?>
<p:tagLst xmlns:p="http://schemas.openxmlformats.org/presentationml/2006/main">
  <p:tag name="KSO_WM_DIAGRAM_VIRTUALLY_FRAME" val="{&quot;height&quot;:500.8,&quot;left&quot;:48,&quot;top&quot;:77.3,&quot;width&quot;:955.7}"/>
</p:tagLst>
</file>

<file path=ppt/tags/tag56.xml><?xml version="1.0" encoding="utf-8"?>
<p:tagLst xmlns:p="http://schemas.openxmlformats.org/presentationml/2006/main">
  <p:tag name="KSO_WM_DIAGRAM_VIRTUALLY_FRAME" val="{&quot;height&quot;:500.8,&quot;left&quot;:48,&quot;top&quot;:77.3,&quot;width&quot;:955.7}"/>
</p:tagLst>
</file>

<file path=ppt/tags/tag57.xml><?xml version="1.0" encoding="utf-8"?>
<p:tagLst xmlns:p="http://schemas.openxmlformats.org/presentationml/2006/main">
  <p:tag name="KSO_WM_DIAGRAM_VIRTUALLY_FRAME" val="{&quot;height&quot;:500.8,&quot;left&quot;:48,&quot;top&quot;:77.3,&quot;width&quot;:955.7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1122</Words>
  <Application>WPS 演示</Application>
  <PresentationFormat>宽屏</PresentationFormat>
  <Paragraphs>178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4" baseType="lpstr">
      <vt:lpstr>Arial</vt:lpstr>
      <vt:lpstr>宋体</vt:lpstr>
      <vt:lpstr>Wingdings</vt:lpstr>
      <vt:lpstr>Arial Unicode MS</vt:lpstr>
      <vt:lpstr>Noto Sans SC</vt:lpstr>
      <vt:lpstr>Noto Sans SC</vt:lpstr>
      <vt:lpstr>微软雅黑</vt:lpstr>
      <vt:lpstr>华文楷体</vt:lpstr>
      <vt:lpstr>PingFang SC</vt:lpstr>
      <vt:lpstr>QIJIC</vt:lpstr>
      <vt:lpstr>PingFang SC</vt:lpstr>
      <vt:lpstr>PingFang SC</vt:lpstr>
      <vt:lpstr>Times New Roman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Tangyizhou</dc:creator>
  <cp:lastModifiedBy>周利华</cp:lastModifiedBy>
  <cp:revision>6</cp:revision>
  <dcterms:created xsi:type="dcterms:W3CDTF">2023-08-09T12:44:00Z</dcterms:created>
  <dcterms:modified xsi:type="dcterms:W3CDTF">2026-03-16T09:33:19Z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14F80CC1863D40FD835C69AE96BEC884_12</vt:lpwstr>
  </property>
</Properties>
</file>