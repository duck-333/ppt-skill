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（十五）字母A-希腊神话人物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ITLE_ROOT"/>
          <p:cNvSpPr txBox="1"/>
          <p:nvPr/>
        </p:nvSpPr>
        <p:spPr>
          <a:xfrm>
            <a:off x="548640" y="1580515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000000"/>
                </a:solidFill>
                <a:latin typeface="微软雅黑" panose="020B0503020204020204" charset="-122"/>
              </a:rPr>
              <a:t>词根 A-</a:t>
            </a:r>
            <a:endParaRPr sz="4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4" name="ROOT_LOGIC_DESC"/>
          <p:cNvSpPr txBox="1"/>
          <p:nvPr/>
        </p:nvSpPr>
        <p:spPr>
          <a:xfrm>
            <a:off x="548640" y="2494915"/>
            <a:ext cx="326390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微软雅黑" panose="020B0503020204020204" charset="-122"/>
              </a:rPr>
              <a:t>字母A开头的古希腊神话人物（Argus, Atlas, Apollo, Aphrodite, Athena）常引申出若干词根与派生词。</a:t>
            </a:r>
            <a:endParaRPr sz="32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5" name="SUB_ITEM_UNIT_1"/>
          <p:cNvSpPr txBox="1"/>
          <p:nvPr/>
        </p:nvSpPr>
        <p:spPr>
          <a:xfrm>
            <a:off x="731520" y="3337560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1  词根 arg- “明亮的”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SUB_ITEM_UNIT_2"/>
          <p:cNvSpPr txBox="1"/>
          <p:nvPr/>
        </p:nvSpPr>
        <p:spPr>
          <a:xfrm>
            <a:off x="731520" y="4096512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2  词根 argu- “争论；争辩”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SUB_ITEM_UNIT_3"/>
          <p:cNvSpPr txBox="1"/>
          <p:nvPr/>
        </p:nvSpPr>
        <p:spPr>
          <a:xfrm>
            <a:off x="731520" y="4855464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3  Atlas “阿特拉斯”（引申 atlas/Atlantic）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  <p:sp>
        <p:nvSpPr>
          <p:cNvPr id="7" name="SUB_ITEM_UNIT_4"/>
          <p:cNvSpPr txBox="1"/>
          <p:nvPr/>
        </p:nvSpPr>
        <p:spPr>
          <a:xfrm>
            <a:off x="731520" y="5614416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4  Apollo “阿波罗”（apoll-）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SUB_ITEM_UNIT_5"/>
          <p:cNvSpPr txBox="1"/>
          <p:nvPr/>
        </p:nvSpPr>
        <p:spPr>
          <a:xfrm>
            <a:off x="731520" y="6373368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5  Aphrodite “阿佛洛狄特”（April）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 arg- “明亮的”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argus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/'ɑ:gəs/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n.百眼巨人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100眼巨人，n.百眼巨人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{{TOP_CATEGORY}}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 arg- “明亮的”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argent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/'ɑ:dʒənt/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adj.银白色的；n.银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arg“明亮的”+ent 形容词后缀，adj.银白色的；n.银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{{TOP_CATEGORY}}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 argu- “争论；争辩”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argue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/'ɑ:gju:/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v.争论；证明；说服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argu“争论”+e，v.争论；证明；说服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{{TOP_CATEGORY}}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 argu- “争论；争辩”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arguable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/'ɑ:gjuəb(ə)l/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adj.可辩论的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argu“争论”+able“能的；可的”，adj.可辩论的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{{TOP_CATEGORY}}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 argu- “争论；争辩”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argument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/'ɑ:gjumənt/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n.争论；辩论；证据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argu“争论”+ment 名词后缀，n.争论；辩论；证据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{{TOP_CATEGORY}}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Atlas “阿特拉斯”（引申 atlas/Atlantic）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atlas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/'ætləs/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n.地图册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{{TOP_CATEGORY}}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Atlas “阿特拉斯”（引申 atlas/Atlantic）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Atlantic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/ət'læntɪk/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n.大西洋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Atl(as)“阿特拉斯”+ant 形容词后缀+ic 形容词后缀，n.大西洋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{{TOP_CATEGORY}}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Apollo “阿波罗”（apoll-）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Apollo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/ə'pɒləʊ/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n.阿波罗；美男子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{{TOP_CATEGORY}}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Apollo “阿波罗”（apoll-）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apollonian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/ˌæpə'ləʊniən/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Apollo“阿波罗”+ian 表人，adj.阿波罗神的；高尚的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{{TOP_CATEGORY}}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Aphrodite “阿佛洛狄特”（April）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April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/'eɪprəl/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通 Aphrodite“阿佛洛狄特”，n.四月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{{TOP_CATEGORY}}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Aphrodite “阿佛洛狄特”（April）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Athena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/ə'θi:nə/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n.雅典娜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A“星星”+the 特指+na“娜”（女性名），n.雅典娜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{{TOP_CATEGORY}}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Aphrodite “阿佛洛狄特”（April）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Athens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/'æθənz/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n.雅典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Athen(a)“雅典娜”+s 所有格，n.雅典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{{TOP_CATEGORY}}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UMMARY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微软雅黑" panose="020B0503020204020204" charset="-122"/>
              </a:rPr>
              <a:t>Summary</a:t>
            </a:r>
            <a:endParaRPr sz="3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1"/>
          <p:cNvSpPr/>
          <p:nvPr/>
        </p:nvSpPr>
        <p:spPr>
          <a:xfrm>
            <a:off x="548640" y="1234440"/>
            <a:ext cx="3703320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 arg- “明亮的”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>
                <a:solidFill>
                  <a:srgbClr val="3C3C3C"/>
                </a:solidFill>
                <a:latin typeface="微软雅黑" panose="020B0503020204020204" charset="-122"/>
              </a:rPr>
              <a:t>argus, argent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2"/>
          <p:cNvSpPr/>
          <p:nvPr/>
        </p:nvSpPr>
        <p:spPr>
          <a:xfrm>
            <a:off x="4548225" y="1234440"/>
            <a:ext cx="3703320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 argu- “争论；争辩”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>
                <a:solidFill>
                  <a:srgbClr val="3C3C3C"/>
                </a:solidFill>
                <a:latin typeface="微软雅黑" panose="020B0503020204020204" charset="-122"/>
              </a:rPr>
              <a:t>argue, arguable, argument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3"/>
          <p:cNvSpPr/>
          <p:nvPr/>
        </p:nvSpPr>
        <p:spPr>
          <a:xfrm>
            <a:off x="8547810" y="1234440"/>
            <a:ext cx="3703320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Atlas “阿特拉斯”（引申 atlas/Atlantic）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>
                <a:solidFill>
                  <a:srgbClr val="3C3C3C"/>
                </a:solidFill>
                <a:latin typeface="微软雅黑" panose="020B0503020204020204" charset="-122"/>
              </a:rPr>
              <a:t>atlas, Atlantic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4"/>
          <p:cNvSpPr/>
          <p:nvPr/>
        </p:nvSpPr>
        <p:spPr>
          <a:xfrm>
            <a:off x="548640" y="3500323"/>
            <a:ext cx="3703320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Apollo “阿波罗”（apoll-）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>
                <a:solidFill>
                  <a:srgbClr val="3C3C3C"/>
                </a:solidFill>
                <a:latin typeface="微软雅黑" panose="020B0503020204020204" charset="-122"/>
              </a:rPr>
              <a:t>Apollo, apollonian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5"/>
          <p:cNvSpPr/>
          <p:nvPr/>
        </p:nvSpPr>
        <p:spPr>
          <a:xfrm>
            <a:off x="4548225" y="3500323"/>
            <a:ext cx="3703320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Aphrodite “阿佛洛狄特”（April）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>
                <a:solidFill>
                  <a:srgbClr val="3C3C3C"/>
                </a:solidFill>
                <a:latin typeface="微软雅黑" panose="020B0503020204020204" charset="-122"/>
              </a:rPr>
              <a:t>April, Athena, Athens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