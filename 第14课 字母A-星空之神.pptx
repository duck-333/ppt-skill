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tags" Target="../tags/tag1.xml"/><Relationship Id="rId5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（十四）字母A-星空之神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TITLE_ROOT"/>
          <p:cNvSpPr txBox="1"/>
          <p:nvPr/>
        </p:nvSpPr>
        <p:spPr>
          <a:xfrm>
            <a:off x="548640" y="1580515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  <a:latin typeface="微软雅黑" panose="020B0503020204020204" charset="-122"/>
              </a:rPr>
              <a:t>词根 aster-/astr-/ster-/stell-</a:t>
            </a:r>
            <a:endParaRPr sz="4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4" name="ROOT_LOGIC_DESC"/>
          <p:cNvSpPr txBox="1"/>
          <p:nvPr/>
        </p:nvSpPr>
        <p:spPr>
          <a:xfrm>
            <a:off x="548640" y="2494915"/>
            <a:ext cx="326390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0">
                <a:solidFill>
                  <a:srgbClr val="000000"/>
                </a:solidFill>
                <a:latin typeface="微软雅黑" panose="020B0503020204020204" charset="-122"/>
              </a:rPr>
              <a:t>字母A与尖角状的星星之形对应。在古希腊神话中，天上的星星对应神话中的神。这是众多古希腊神话人物之名都以字母A开头的原因。</a:t>
            </a:r>
            <a:endParaRPr sz="32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5" name="SUB_ITEM_UNIT_1"/>
          <p:cNvSpPr txBox="1"/>
          <p:nvPr/>
        </p:nvSpPr>
        <p:spPr>
          <a:xfrm>
            <a:off x="731520" y="3337560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1  词根 aster- “星星”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SUB_ITEM_UNIT_2"/>
          <p:cNvSpPr txBox="1"/>
          <p:nvPr/>
        </p:nvSpPr>
        <p:spPr>
          <a:xfrm>
            <a:off x="731520" y="4096512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2  词根 astr- “星星”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3"/>
          <p:cNvSpPr txBox="1"/>
          <p:nvPr/>
        </p:nvSpPr>
        <p:spPr>
          <a:xfrm>
            <a:off x="731520" y="4855464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3  词根 ster- “星星”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  <p:sp>
        <p:nvSpPr>
          <p:cNvPr id="7" name="SUB_ITEM_UNIT_4"/>
          <p:cNvSpPr txBox="1"/>
          <p:nvPr/>
        </p:nvSpPr>
        <p:spPr>
          <a:xfrm>
            <a:off x="731520" y="5614416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4  名词后缀 -ster 表女性，现泛指“人”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SUB_ITEM_UNIT_5"/>
          <p:cNvSpPr txBox="1"/>
          <p:nvPr/>
        </p:nvSpPr>
        <p:spPr>
          <a:xfrm>
            <a:off x="731520" y="6373368"/>
            <a:ext cx="4423410" cy="5835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微软雅黑" panose="020B0503020204020204" charset="-122"/>
              </a:rPr>
              <a:t>5  词根 stell- “星星”</a:t>
            </a:r>
            <a:endParaRPr sz="32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8686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微软雅黑" panose="020B0503020204020204" charset="-122"/>
              </a:rPr>
              <a:t>词根 aster- “星星”</a:t>
            </a:r>
            <a:endParaRPr sz="2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asterisk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/'æstərɪsk/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n.星号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aster“星星”+i+sk 通 x “刻痕”，n.星号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13716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I_IMAGE_CAPTION"/>
          <p:cNvSpPr txBox="1"/>
          <p:nvPr/>
        </p:nvSpPr>
        <p:spPr>
          <a:xfrm>
            <a:off x="332740" y="5074920"/>
            <a:ext cx="3657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787878"/>
                </a:solidFill>
                <a:latin typeface="微软雅黑" panose="020B0503020204020204" charset="-122"/>
              </a:rPr>
              <a:t>(AI image placeholder)</a:t>
            </a:r>
            <a:endParaRPr sz="1400" b="0">
              <a:solidFill>
                <a:srgbClr val="787878"/>
              </a:solidFill>
              <a:latin typeface="微软雅黑" panose="020B0503020204020204" charset="-122"/>
            </a:endParaRPr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8686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微软雅黑" panose="020B0503020204020204" charset="-122"/>
              </a:rPr>
              <a:t>词根 aster- “星星”</a:t>
            </a:r>
            <a:endParaRPr sz="2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disaster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/dɪ'za:stə(r)/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n.灾难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dis“not”+aster“星星”，n.灾难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13716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I_IMAGE_CAPTION"/>
          <p:cNvSpPr txBox="1"/>
          <p:nvPr/>
        </p:nvSpPr>
        <p:spPr>
          <a:xfrm>
            <a:off x="332740" y="5074920"/>
            <a:ext cx="3657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787878"/>
                </a:solidFill>
                <a:latin typeface="微软雅黑" panose="020B0503020204020204" charset="-122"/>
              </a:rPr>
              <a:t>(AI image placeholder)</a:t>
            </a:r>
            <a:endParaRPr sz="1400" b="0">
              <a:solidFill>
                <a:srgbClr val="787878"/>
              </a:solidFill>
              <a:latin typeface="微软雅黑" panose="020B0503020204020204" charset="-122"/>
            </a:endParaRPr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8686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微软雅黑" panose="020B0503020204020204" charset="-122"/>
              </a:rPr>
              <a:t>词根 astr- “星星”</a:t>
            </a:r>
            <a:endParaRPr sz="2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Astraeus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n.阿斯特埃俄斯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astr“星星”+a 通 one+e+us 拉丁语人名后缀表示“有用之人”，n.阿斯特埃俄斯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13716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I_IMAGE_CAPTION"/>
          <p:cNvSpPr txBox="1"/>
          <p:nvPr/>
        </p:nvSpPr>
        <p:spPr>
          <a:xfrm>
            <a:off x="332740" y="5074920"/>
            <a:ext cx="3657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787878"/>
                </a:solidFill>
                <a:latin typeface="微软雅黑" panose="020B0503020204020204" charset="-122"/>
              </a:rPr>
              <a:t>(AI image placeholder)</a:t>
            </a:r>
            <a:endParaRPr sz="1400" b="0">
              <a:solidFill>
                <a:srgbClr val="787878"/>
              </a:solidFill>
              <a:latin typeface="微软雅黑" panose="020B0503020204020204" charset="-122"/>
            </a:endParaRPr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8686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微软雅黑" panose="020B0503020204020204" charset="-122"/>
              </a:rPr>
              <a:t>词根 astr- “星星”</a:t>
            </a:r>
            <a:endParaRPr sz="2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astrology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/ə'strɒlədʒi/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n.占星术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astr“星星”+o+logy“学说”，n.占星术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13716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I_IMAGE_CAPTION"/>
          <p:cNvSpPr txBox="1"/>
          <p:nvPr/>
        </p:nvSpPr>
        <p:spPr>
          <a:xfrm>
            <a:off x="332740" y="5074920"/>
            <a:ext cx="3657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787878"/>
                </a:solidFill>
                <a:latin typeface="微软雅黑" panose="020B0503020204020204" charset="-122"/>
              </a:rPr>
              <a:t>(AI image placeholder)</a:t>
            </a:r>
            <a:endParaRPr sz="1400" b="0">
              <a:solidFill>
                <a:srgbClr val="787878"/>
              </a:solidFill>
              <a:latin typeface="微软雅黑" panose="020B0503020204020204" charset="-122"/>
            </a:endParaRPr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8686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微软雅黑" panose="020B0503020204020204" charset="-122"/>
              </a:rPr>
              <a:t>词根 astr- “星星”</a:t>
            </a:r>
            <a:endParaRPr sz="2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astronomy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/ə'strɒnəmi/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n.天文学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astr“星星”+o+nom“管理”+y，n.天文学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13716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I_IMAGE_CAPTION"/>
          <p:cNvSpPr txBox="1"/>
          <p:nvPr/>
        </p:nvSpPr>
        <p:spPr>
          <a:xfrm>
            <a:off x="332740" y="5074920"/>
            <a:ext cx="3657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787878"/>
                </a:solidFill>
                <a:latin typeface="微软雅黑" panose="020B0503020204020204" charset="-122"/>
              </a:rPr>
              <a:t>(AI image placeholder)</a:t>
            </a:r>
            <a:endParaRPr sz="1400" b="0">
              <a:solidFill>
                <a:srgbClr val="787878"/>
              </a:solidFill>
              <a:latin typeface="微软雅黑" panose="020B0503020204020204" charset="-122"/>
            </a:endParaRPr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8686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微软雅黑" panose="020B0503020204020204" charset="-122"/>
              </a:rPr>
              <a:t>词根 astr- “星星”</a:t>
            </a:r>
            <a:endParaRPr sz="2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astronomer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/əˈstrɒnəmə(r)/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n.天文学家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astronom(y)“天文学”+er 表人，n.天文学家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13716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I_IMAGE_CAPTION"/>
          <p:cNvSpPr txBox="1"/>
          <p:nvPr/>
        </p:nvSpPr>
        <p:spPr>
          <a:xfrm>
            <a:off x="332740" y="5074920"/>
            <a:ext cx="3657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787878"/>
                </a:solidFill>
                <a:latin typeface="微软雅黑" panose="020B0503020204020204" charset="-122"/>
              </a:rPr>
              <a:t>(AI image placeholder)</a:t>
            </a:r>
            <a:endParaRPr sz="1400" b="0">
              <a:solidFill>
                <a:srgbClr val="787878"/>
              </a:solidFill>
              <a:latin typeface="微软雅黑" panose="020B0503020204020204" charset="-122"/>
            </a:endParaRPr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8686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微软雅黑" panose="020B0503020204020204" charset="-122"/>
              </a:rPr>
              <a:t>词根 astr- “星星”</a:t>
            </a:r>
            <a:endParaRPr sz="2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astronomical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/ˌæstrəˈnɒmɪk(ə)l/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adj.天文学的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astronom(y)“天文学”+ic 形容词后缀+al 形容词后缀，adj.天文学的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13716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I_IMAGE_CAPTION"/>
          <p:cNvSpPr txBox="1"/>
          <p:nvPr/>
        </p:nvSpPr>
        <p:spPr>
          <a:xfrm>
            <a:off x="332740" y="5074920"/>
            <a:ext cx="3657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787878"/>
                </a:solidFill>
                <a:latin typeface="微软雅黑" panose="020B0503020204020204" charset="-122"/>
              </a:rPr>
              <a:t>(AI image placeholder)</a:t>
            </a:r>
            <a:endParaRPr sz="1400" b="0">
              <a:solidFill>
                <a:srgbClr val="787878"/>
              </a:solidFill>
              <a:latin typeface="微软雅黑" panose="020B0503020204020204" charset="-122"/>
            </a:endParaRPr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8686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微软雅黑" panose="020B0503020204020204" charset="-122"/>
              </a:rPr>
              <a:t>词根 astr- “星星”</a:t>
            </a:r>
            <a:endParaRPr sz="2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astronaut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/'æstrənɔ:t/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n.宇航员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astr“星星”+o+naut“航行”，n.宇航员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13716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I_IMAGE_CAPTION"/>
          <p:cNvSpPr txBox="1"/>
          <p:nvPr/>
        </p:nvSpPr>
        <p:spPr>
          <a:xfrm>
            <a:off x="332740" y="5074920"/>
            <a:ext cx="3657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787878"/>
                </a:solidFill>
                <a:latin typeface="微软雅黑" panose="020B0503020204020204" charset="-122"/>
              </a:rPr>
              <a:t>(AI image placeholder)</a:t>
            </a:r>
            <a:endParaRPr sz="1400" b="0">
              <a:solidFill>
                <a:srgbClr val="787878"/>
              </a:solidFill>
              <a:latin typeface="微软雅黑" panose="020B0503020204020204" charset="-122"/>
            </a:endParaRPr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8686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微软雅黑" panose="020B0503020204020204" charset="-122"/>
              </a:rPr>
              <a:t>词根 ster- “星星”</a:t>
            </a:r>
            <a:endParaRPr sz="2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sterling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/'stɜ:lɪŋ/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n.银币；英镑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ster“星星”+l（ittle）“小的”+ing，n.银币；英镑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13716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I_IMAGE_CAPTION"/>
          <p:cNvSpPr txBox="1"/>
          <p:nvPr/>
        </p:nvSpPr>
        <p:spPr>
          <a:xfrm>
            <a:off x="332740" y="5074920"/>
            <a:ext cx="3657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787878"/>
                </a:solidFill>
                <a:latin typeface="微软雅黑" panose="020B0503020204020204" charset="-122"/>
              </a:rPr>
              <a:t>(AI image placeholder)</a:t>
            </a:r>
            <a:endParaRPr sz="1400" b="0">
              <a:solidFill>
                <a:srgbClr val="787878"/>
              </a:solidFill>
              <a:latin typeface="微软雅黑" panose="020B0503020204020204" charset="-122"/>
            </a:endParaRPr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8686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微软雅黑" panose="020B0503020204020204" charset="-122"/>
              </a:rPr>
              <a:t>词根 ster- “星星”</a:t>
            </a:r>
            <a:endParaRPr sz="2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star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/stɑ:(r)/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n.恒星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st“stand”“站立”+ar“be”，n.恒星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13716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I_IMAGE_CAPTION"/>
          <p:cNvSpPr txBox="1"/>
          <p:nvPr/>
        </p:nvSpPr>
        <p:spPr>
          <a:xfrm>
            <a:off x="332740" y="5074920"/>
            <a:ext cx="3657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787878"/>
                </a:solidFill>
                <a:latin typeface="微软雅黑" panose="020B0503020204020204" charset="-122"/>
              </a:rPr>
              <a:t>(AI image placeholder)</a:t>
            </a:r>
            <a:endParaRPr sz="1400" b="0">
              <a:solidFill>
                <a:srgbClr val="787878"/>
              </a:solidFill>
              <a:latin typeface="微软雅黑" panose="020B0503020204020204" charset="-122"/>
            </a:endParaRPr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8686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微软雅黑" panose="020B0503020204020204" charset="-122"/>
              </a:rPr>
              <a:t>名词后缀 -ster 表女性，现泛指“人”</a:t>
            </a:r>
            <a:endParaRPr sz="2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songster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/'sɒŋstə(r)/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n.歌手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song“歌”+ster 表人，n.歌手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13716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I_IMAGE_CAPTION"/>
          <p:cNvSpPr txBox="1"/>
          <p:nvPr/>
        </p:nvSpPr>
        <p:spPr>
          <a:xfrm>
            <a:off x="332740" y="5074920"/>
            <a:ext cx="3657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787878"/>
                </a:solidFill>
                <a:latin typeface="微软雅黑" panose="020B0503020204020204" charset="-122"/>
              </a:rPr>
              <a:t>(AI image placeholder)</a:t>
            </a:r>
            <a:endParaRPr sz="1400" b="0">
              <a:solidFill>
                <a:srgbClr val="787878"/>
              </a:solidFill>
              <a:latin typeface="微软雅黑" panose="020B0503020204020204" charset="-122"/>
            </a:endParaRPr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8686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微软雅黑" panose="020B0503020204020204" charset="-122"/>
              </a:rPr>
              <a:t>名词后缀 -ster 表女性，现泛指“人”</a:t>
            </a:r>
            <a:endParaRPr sz="2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spinster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/'spɪnstə(r)/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n.纺纱女；老姑娘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spin“纺纱”+ster 表人，n.纺纱女；老姑娘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13716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I_IMAGE_CAPTION"/>
          <p:cNvSpPr txBox="1"/>
          <p:nvPr/>
        </p:nvSpPr>
        <p:spPr>
          <a:xfrm>
            <a:off x="332740" y="5074920"/>
            <a:ext cx="3657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787878"/>
                </a:solidFill>
                <a:latin typeface="微软雅黑" panose="020B0503020204020204" charset="-122"/>
              </a:rPr>
              <a:t>(AI image placeholder)</a:t>
            </a:r>
            <a:endParaRPr sz="1400" b="0">
              <a:solidFill>
                <a:srgbClr val="787878"/>
              </a:solidFill>
              <a:latin typeface="微软雅黑" panose="020B0503020204020204" charset="-122"/>
            </a:endParaRPr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8686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微软雅黑" panose="020B0503020204020204" charset="-122"/>
              </a:rPr>
              <a:t>名词后缀 -ster 表女性，现泛指“人”</a:t>
            </a:r>
            <a:endParaRPr sz="2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youngster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/'jʌŋstə(r)/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n.年轻人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young“年轻的”+ster 表人，n.年轻人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13716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I_IMAGE_CAPTION"/>
          <p:cNvSpPr txBox="1"/>
          <p:nvPr/>
        </p:nvSpPr>
        <p:spPr>
          <a:xfrm>
            <a:off x="332740" y="5074920"/>
            <a:ext cx="3657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787878"/>
                </a:solidFill>
                <a:latin typeface="微软雅黑" panose="020B0503020204020204" charset="-122"/>
              </a:rPr>
              <a:t>(AI image placeholder)</a:t>
            </a:r>
            <a:endParaRPr sz="1400" b="0">
              <a:solidFill>
                <a:srgbClr val="787878"/>
              </a:solidFill>
              <a:latin typeface="微软雅黑" panose="020B0503020204020204" charset="-122"/>
            </a:endParaRPr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8686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微软雅黑" panose="020B0503020204020204" charset="-122"/>
              </a:rPr>
              <a:t>词根 stell- “星星”</a:t>
            </a:r>
            <a:endParaRPr sz="2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stellify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/'stelɪfaɪ/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v.使成星状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stell“星星”+i+fy“做；使成为”，v.使成星状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13716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I_IMAGE_CAPTION"/>
          <p:cNvSpPr txBox="1"/>
          <p:nvPr/>
        </p:nvSpPr>
        <p:spPr>
          <a:xfrm>
            <a:off x="332740" y="5074920"/>
            <a:ext cx="3657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787878"/>
                </a:solidFill>
                <a:latin typeface="微软雅黑" panose="020B0503020204020204" charset="-122"/>
              </a:rPr>
              <a:t>(AI image placeholder)</a:t>
            </a:r>
            <a:endParaRPr sz="1400" b="0">
              <a:solidFill>
                <a:srgbClr val="787878"/>
              </a:solidFill>
              <a:latin typeface="微软雅黑" panose="020B0503020204020204" charset="-122"/>
            </a:endParaRPr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8686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微软雅黑" panose="020B0503020204020204" charset="-122"/>
              </a:rPr>
              <a:t>词根 stell- “星星”</a:t>
            </a:r>
            <a:endParaRPr sz="2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stelliform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/'stelɪfɔ:m/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adj.星形的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stell“星星”+i+form“形式”，adj.星形的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13716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I_IMAGE_CAPTION"/>
          <p:cNvSpPr txBox="1"/>
          <p:nvPr/>
        </p:nvSpPr>
        <p:spPr>
          <a:xfrm>
            <a:off x="332740" y="5074920"/>
            <a:ext cx="3657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787878"/>
                </a:solidFill>
                <a:latin typeface="微软雅黑" panose="020B0503020204020204" charset="-122"/>
              </a:rPr>
              <a:t>(AI image placeholder)</a:t>
            </a:r>
            <a:endParaRPr sz="1400" b="0">
              <a:solidFill>
                <a:srgbClr val="787878"/>
              </a:solidFill>
              <a:latin typeface="微软雅黑" panose="020B0503020204020204" charset="-122"/>
            </a:endParaRPr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5240" y="0"/>
            <a:ext cx="12192000" cy="6858000"/>
          </a:xfrm>
          <a:prstGeom prst="rect">
            <a:avLst/>
          </a:prstGeom>
        </p:spPr>
      </p:pic>
      <p:sp>
        <p:nvSpPr>
          <p:cNvPr id="3" name="HEADER_SUBTITLE"/>
          <p:cNvSpPr txBox="1"/>
          <p:nvPr/>
        </p:nvSpPr>
        <p:spPr>
          <a:xfrm>
            <a:off x="762000" y="8686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微软雅黑" panose="020B0503020204020204" charset="-122"/>
              </a:rPr>
              <a:t>词根 stell- “星星”</a:t>
            </a:r>
            <a:endParaRPr sz="2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65930" y="1304290"/>
            <a:ext cx="7560310" cy="5222240"/>
          </a:xfrm>
          <a:prstGeom prst="rect">
            <a:avLst/>
          </a:prstGeom>
        </p:spPr>
      </p:pic>
      <p:sp>
        <p:nvSpPr>
          <p:cNvPr id="5" name="WORD_NAME"/>
          <p:cNvSpPr txBox="1"/>
          <p:nvPr/>
        </p:nvSpPr>
        <p:spPr>
          <a:xfrm>
            <a:off x="4631690" y="1600200"/>
            <a:ext cx="3950335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0" b="1">
                <a:solidFill>
                  <a:srgbClr val="000000"/>
                </a:solidFill>
                <a:latin typeface="微软雅黑" panose="020B0503020204020204" charset="-122"/>
              </a:rPr>
              <a:t>interstellar</a:t>
            </a:r>
            <a:endParaRPr sz="60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6" name="WORD_PHONETIC"/>
          <p:cNvSpPr txBox="1"/>
          <p:nvPr/>
        </p:nvSpPr>
        <p:spPr>
          <a:xfrm>
            <a:off x="4631690" y="2787650"/>
            <a:ext cx="2775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000000"/>
                </a:solidFill>
                <a:latin typeface="微软雅黑" panose="020B0503020204020204" charset="-122"/>
              </a:rPr>
              <a:t>/ˌɪntə'stelə(r)/</a:t>
            </a:r>
            <a:endParaRPr sz="2800" b="0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7" name="WORD_DEFINITION"/>
          <p:cNvSpPr txBox="1"/>
          <p:nvPr/>
        </p:nvSpPr>
        <p:spPr>
          <a:xfrm>
            <a:off x="4631690" y="3622040"/>
            <a:ext cx="3672205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微软雅黑" panose="020B0503020204020204" charset="-122"/>
              </a:rPr>
              <a:t>adj.星际的</a:t>
            </a:r>
            <a:endParaRPr sz="36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8" name="WORD_ANALYSIS"/>
          <p:cNvSpPr txBox="1"/>
          <p:nvPr/>
        </p:nvSpPr>
        <p:spPr>
          <a:xfrm>
            <a:off x="4631690" y="4614545"/>
            <a:ext cx="6949440" cy="16033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3200" b="0" i="1">
                <a:solidFill>
                  <a:srgbClr val="000000"/>
                </a:solidFill>
                <a:latin typeface="微软雅黑" panose="020B0503020204020204" charset="-122"/>
              </a:rPr>
              <a:t>即 inter“在……之间”+stell“星星”+ar“be”，adj.星际的</a:t>
            </a:r>
            <a:endParaRPr sz="3200" b="0" i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9" name="PLACEHOLDER_AI_IMAGE"/>
          <p:cNvSpPr/>
          <p:nvPr/>
        </p:nvSpPr>
        <p:spPr>
          <a:xfrm>
            <a:off x="332740" y="1371600"/>
            <a:ext cx="36576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I_IMAGE_CAPTION"/>
          <p:cNvSpPr txBox="1"/>
          <p:nvPr/>
        </p:nvSpPr>
        <p:spPr>
          <a:xfrm>
            <a:off x="332740" y="5074920"/>
            <a:ext cx="3657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787878"/>
                </a:solidFill>
                <a:latin typeface="微软雅黑" panose="020B0503020204020204" charset="-122"/>
              </a:rPr>
              <a:t>(AI image placeholder)</a:t>
            </a:r>
            <a:endParaRPr sz="1400" b="0">
              <a:solidFill>
                <a:srgbClr val="787878"/>
              </a:solidFill>
              <a:latin typeface="微软雅黑" panose="020B0503020204020204" charset="-122"/>
            </a:endParaRPr>
          </a:p>
        </p:txBody>
      </p:sp>
      <p:sp>
        <p:nvSpPr>
          <p:cNvPr id="12" name="Text 0"/>
          <p:cNvSpPr txBox="1"/>
          <p:nvPr/>
        </p:nvSpPr>
        <p:spPr>
          <a:xfrm>
            <a:off x="904240" y="408305"/>
            <a:ext cx="308610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{{TOP_CATEGORY}}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7350"/>
            <a:ext cx="76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UMMARY_TITLE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微软雅黑" panose="020B0503020204020204" charset="-122"/>
              </a:rPr>
              <a:t>Summary</a:t>
            </a:r>
            <a:endParaRPr sz="3400" b="1">
              <a:solidFill>
                <a:srgbClr val="000000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1"/>
          <p:cNvSpPr/>
          <p:nvPr/>
        </p:nvSpPr>
        <p:spPr>
          <a:xfrm>
            <a:off x="548640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 aster- “星星”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asterisk, disaster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2"/>
          <p:cNvSpPr/>
          <p:nvPr/>
        </p:nvSpPr>
        <p:spPr>
          <a:xfrm>
            <a:off x="4548225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 astr- “星星”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Astraeus, astrology, astronomy, astronomer, astronomical, astronaut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3"/>
          <p:cNvSpPr/>
          <p:nvPr/>
        </p:nvSpPr>
        <p:spPr>
          <a:xfrm>
            <a:off x="8547810" y="1234440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 ster- “星星”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sterling, star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4"/>
          <p:cNvSpPr/>
          <p:nvPr/>
        </p:nvSpPr>
        <p:spPr>
          <a:xfrm>
            <a:off x="548640" y="3500323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名词后缀 -ster 表女性，现泛指“人”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songster, spinster, youngster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  <p:sp>
        <p:nvSpPr>
          <p:cNvPr id="3" name="SUMMARY_UNIT_5"/>
          <p:cNvSpPr/>
          <p:nvPr/>
        </p:nvSpPr>
        <p:spPr>
          <a:xfrm>
            <a:off x="4548225" y="3500323"/>
            <a:ext cx="3703320" cy="192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</a:rPr>
              <a:t>词根 stell- “星星”</a:t>
            </a:r>
            <a:endParaRPr sz="2400" b="1">
              <a:solidFill>
                <a:srgbClr val="000000"/>
              </a:solidFill>
              <a:latin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b="0">
                <a:solidFill>
                  <a:srgbClr val="3C3C3C"/>
                </a:solidFill>
                <a:latin typeface="微软雅黑" panose="020B0503020204020204" charset="-122"/>
              </a:rPr>
              <a:t>stellify, stelliform, interstellar</a:t>
            </a:r>
            <a:endParaRPr b="0">
              <a:solidFill>
                <a:srgbClr val="3C3C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00.8,&quot;left&quot;:48,&quot;top&quot;:77.3,&quot;width&quot;:955.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