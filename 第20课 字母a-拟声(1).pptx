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字母A-拟声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ITLE_ROOT"/>
          <p:cNvSpPr txBox="1"/>
          <p:nvPr/>
        </p:nvSpPr>
        <p:spPr>
          <a:xfrm>
            <a:off x="548640" y="1580515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  <a:latin typeface="微软雅黑" panose="020B0503020204020204" charset="-122"/>
              </a:rPr>
              <a:t>字母A-拟声</a:t>
            </a:r>
            <a:endParaRPr sz="4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4" name="ROOT_LOGIC_DESC"/>
          <p:cNvSpPr txBox="1"/>
          <p:nvPr/>
        </p:nvSpPr>
        <p:spPr>
          <a:xfrm>
            <a:off x="548640" y="2494915"/>
            <a:ext cx="326390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微软雅黑" panose="020B0503020204020204" charset="-122"/>
              </a:rPr>
              <a:t>字母A，音：/ eɪ /或/ɑː/或/ ə/，可以模拟
声音，从而形成拟声词。</a:t>
            </a:r>
            <a:endParaRPr sz="32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5" name="SUB_ITEM_UNIT_1"/>
          <p:cNvSpPr txBox="1"/>
          <p:nvPr/>
        </p:nvSpPr>
        <p:spPr>
          <a:xfrm>
            <a:off x="731520" y="3337560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1  意项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SUB_ITEM_UNIT_2"/>
          <p:cNvSpPr txBox="1"/>
          <p:nvPr/>
        </p:nvSpPr>
        <p:spPr>
          <a:xfrm>
            <a:off x="731520" y="4096512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2  词根are-“be”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3"/>
          <p:cNvSpPr txBox="1"/>
          <p:nvPr/>
        </p:nvSpPr>
        <p:spPr>
          <a:xfrm>
            <a:off x="731520" y="4855464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3  词根ar-“be”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  <p:sp>
        <p:nvSpPr>
          <p:cNvPr id="7" name="SUB_ITEM_UNIT_4"/>
          <p:cNvSpPr txBox="1"/>
          <p:nvPr/>
        </p:nvSpPr>
        <p:spPr>
          <a:xfrm>
            <a:off x="731520" y="5614416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4  词根ary-“be”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5"/>
          <p:cNvSpPr txBox="1"/>
          <p:nvPr/>
        </p:nvSpPr>
        <p:spPr>
          <a:xfrm>
            <a:off x="731520" y="6373368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5  词根art-“to be”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6"/>
          <p:cNvSpPr txBox="1"/>
          <p:nvPr/>
        </p:nvSpPr>
        <p:spPr>
          <a:xfrm>
            <a:off x="731520" y="7132320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6  词根ard-“to be”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意项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音：/ eɪ /或/ɑː/或/ ə/，可以模拟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字母A-拟声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意项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ail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/eɪl/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v.使患病n.小病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a“哎”+il(l)“生病的”，v.使患病n.小病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字母A-拟声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意项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ailment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/ˈeɪlmənt/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n.疾病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ail“使患病”+ment名词后缀，n.疾病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字母A-拟声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意项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ask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/ɑːsk/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v.问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a“啊”+sk“知道；知识”，v.问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字母A-拟声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意项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ass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/æs/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拟声词，模拟驴叫声，n.驴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字母A-拟声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意项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am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/əm; æm/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v.是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a“啊”+m，v.是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字母A-拟声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意项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am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拟声词，模拟“嗯”，表示同意，v.是，作be的第一人称单数现在时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字母A-拟声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意项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are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/ɑ:(r)/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v.是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a“啊”+re，v.是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字母A-拟声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意项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are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拟声词，模拟“啊”，表示同意，v.是，作be的第二人称单复数现在时，派生出词根are-、ar-、ary-，词义上等同于“be”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字母A-拟声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词根are-“be”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dare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/deə(r)/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v.胆敢（做某事）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d“做”+are“be”，v.胆敢（做某事）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字母A-拟声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词根ar-“be”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star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/stɑː(r)/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n.恒星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st “站立”+ar“be”，n.恒星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字母A-拟声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词根ary-“be”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library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/ˈlaɪbrəri/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n.图书馆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lib(e)r“书籍”+ary“be”，n.图书馆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字母A-拟声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词根art-“to be”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art-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ar“be”+t动词后缀，表示“to be”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字母A-拟声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词根art-“to be”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art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/ɑːt/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古英语，通are，v.是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字母A-拟声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词根art-“to be”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start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/stɑːt/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st“站立”+art“to be”，v.开始；启动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字母A-拟声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词根ard-“to be”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ard-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通词根art-，字母d通t，表示“to be”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字母A-拟声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词根ard-“to be”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drunkard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/ˈdrʌŋkəd/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n.酒鬼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drunk “喝醉了的”+ard“to be”，n.酒鬼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字母A-拟声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UMMARY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微软雅黑" panose="020B0503020204020204" charset="-122"/>
              </a:rPr>
              <a:t>Summary</a:t>
            </a:r>
            <a:endParaRPr sz="3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1"/>
          <p:cNvSpPr/>
          <p:nvPr/>
        </p:nvSpPr>
        <p:spPr>
          <a:xfrm>
            <a:off x="548640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意项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A, ail, ailment, ask, ass, am, am, are, are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2"/>
          <p:cNvSpPr/>
          <p:nvPr/>
        </p:nvSpPr>
        <p:spPr>
          <a:xfrm>
            <a:off x="4548225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词根are-“be”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dare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3"/>
          <p:cNvSpPr/>
          <p:nvPr/>
        </p:nvSpPr>
        <p:spPr>
          <a:xfrm>
            <a:off x="8547810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词根ar-“be”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star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4"/>
          <p:cNvSpPr/>
          <p:nvPr/>
        </p:nvSpPr>
        <p:spPr>
          <a:xfrm>
            <a:off x="548640" y="3500323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词根ary-“be”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library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5"/>
          <p:cNvSpPr/>
          <p:nvPr/>
        </p:nvSpPr>
        <p:spPr>
          <a:xfrm>
            <a:off x="4548225" y="3500323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词根art-“to be”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art-, art, start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6"/>
          <p:cNvSpPr/>
          <p:nvPr/>
        </p:nvSpPr>
        <p:spPr>
          <a:xfrm>
            <a:off x="8547810" y="3500323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词根ard-“to be”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ard-, drunkard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