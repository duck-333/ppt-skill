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词根bat-，即b--“走”+at动词后缀，表示“走”。
acrobat /ˈækrəbæt/，即acr“尖端”+o+bat“走”，n.杂技演员。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字母b--“走”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词根bat-“走”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词根bas(s)-“走”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  <p:sp>
        <p:nvSpPr>
          <p:cNvPr id="7" name="SUB_ITEM_UNIT_4"/>
          <p:cNvSpPr txBox="1"/>
          <p:nvPr/>
        </p:nvSpPr>
        <p:spPr>
          <a:xfrm>
            <a:off x="731520" y="561441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4  前缀ab-“离开”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5"/>
          <p:cNvSpPr txBox="1"/>
          <p:nvPr/>
        </p:nvSpPr>
        <p:spPr>
          <a:xfrm>
            <a:off x="731520" y="6373368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5  前缀abs-“离开”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6"/>
          <p:cNvSpPr txBox="1"/>
          <p:nvPr/>
        </p:nvSpPr>
        <p:spPr>
          <a:xfrm>
            <a:off x="731520" y="713232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6  前缀a-“离开”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7"/>
          <p:cNvSpPr txBox="1"/>
          <p:nvPr/>
        </p:nvSpPr>
        <p:spPr>
          <a:xfrm>
            <a:off x="731520" y="789127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7  前缀ap-“离开”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8"/>
          <p:cNvSpPr txBox="1"/>
          <p:nvPr/>
        </p:nvSpPr>
        <p:spPr>
          <a:xfrm>
            <a:off x="731520" y="865022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8  词根apt-“倾向”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9"/>
          <p:cNvSpPr txBox="1"/>
          <p:nvPr/>
        </p:nvSpPr>
        <p:spPr>
          <a:xfrm>
            <a:off x="731520" y="940917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9  词根ept-“倾向”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block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/blɒk/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v.妨碍；封锁n.障碍物；块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b“走”+lock“锁住”，v.妨碍；封锁n.障碍物；块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ebb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/eb/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v.退潮；衰退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ex&gt;eb“out” +b“走”，v.退潮；衰退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词根bat-“走”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acrobat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/ˈækrəbæt/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n.杂技演员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acr“尖端”+o+bat“走”，n.杂技演员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词根bas(s)-“走”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abasia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/əˈbeɪzɪə/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n.失步行症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an&gt;a“not”+bas“走”+ia表疾病，n.失步行症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词根bas(s)-“走”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ambassador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/æmˈbæsədə(r)/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n.大使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0" i="1">
                <a:solidFill>
                  <a:srgbClr val="000000"/>
                </a:solidFill>
                <a:latin typeface="微软雅黑" panose="020B0503020204020204" charset="-122"/>
              </a:rPr>
              <a:t>即 am(bi)“两”+bass“走” +ad动词后缀+or表人，n.大使
【释义】词语ambassador，“两边（两国之间）走的人”，汉译“大使”。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词根bas(s)-“走”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ambassadress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/æmˈbæsədres/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n.女大使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ambassad(o)r“大使”+ess表女性n.女大使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词根bas(s)-“走”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embassy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/ˈembəsi/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n.大使馆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em(bi)通am(bi)“二”+bass“走”+y，n.大使馆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前缀ab-“离开”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abnormal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/æbˈnɔːml/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adj.反常的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ab “离开”+normal “正常的”，adj.反常的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前缀ab-“离开”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absence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/ˈæbsəns/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n.缺席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ab “离开”+(e)s “be” “存在”+ence名词后缀，n.缺席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前缀ab-“离开”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absorb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/əbˈsɔːb/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v.吸收；理解；掌握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ab“离开”+sorb “吮吸”，v.吸收；理解；掌握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前缀ab-“离开”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absurd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/əbˈsɜːd/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adj.荒谬的n.荒诞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ab“离开”+sur(e)“可靠的”+d动词后缀，adj.荒谬的n.荒诞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前缀ab-“离开”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after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/ˈɑːftə(r)/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prep.在……之后adv.后来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af 通ab “离开”+ter比较级，prep.在……之后adv.后来
【释义】字母f、v、b互通。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前缀abs-“离开”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abstract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/ˈæbstrækt/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v.提取n.摘要；抽象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abs“离开”+tract“拉动”，v.提取n.摘要；抽象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前缀a-“离开”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ago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/əˈɡəʊ/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adv.以前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ab&gt;a“离开”+go“走”，adv.以前
【释义】词语ago，“过去的”，adv.以前adj.以前的。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前缀ap-“离开”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apology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/əˈpɒlədʒi/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n.道歉；辩护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0" i="1">
                <a:solidFill>
                  <a:srgbClr val="000000"/>
                </a:solidFill>
                <a:latin typeface="微软雅黑" panose="020B0503020204020204" charset="-122"/>
              </a:rPr>
              <a:t>即 ap “离开”+o+log“说话”+y，n.道歉；辩护
【释义】词语apology，“找借口离开”或“为逃脱罪责自我辩护”，引申出n.道歉；辩护等词义。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apt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/æpt/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adj.有……倾向的；适应的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apt“倾向”，adj.有……倾向的；适应的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aptness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/ˈæptnəs/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n.倾向；才能；适合性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apt“倾向”+ness表相关，n.倾向；才能；适合性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aptitude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/ˈæptɪtjuːd/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n.倾向；习性；天资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apt“倾向”+itude表程度，n.倾向；习性；天资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attitude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/ˈætɪtjuːd/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n.姿势；态度；意见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att通apt“倾向”+itude表程度，n.姿势；态度；意见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adapt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/əˈdæpt/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v.适应；调准；改编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ad“to”+apt“倾向”，v.适应；调准；改编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adaptable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/əˈdæptəb(ə)l/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adj.能适应的；可改编的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adapt “适应”+able“能的；可的”，adj.能适应的；可改编的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adaptability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/əˌdæptəˈbɪləti/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n.适应性；适合性；可变性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adaptabil “能适应的”+ity表性质n.适应性；适合性；可变性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adaptation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/ˌædæpˈteɪʃn/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n.适应；改编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adapt “适应”+ation表动作过程，n.适应；改编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inapt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/ɪnˈæpt/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adj.无能的；不熟练的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in“not”+apt“（能力）倾向”，adj.无能的；不熟练的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词根ept-“倾向”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adept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/əˈdept/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adj.擅长的；熟练的n.能手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ad“to”+ept“（能力）倾向”，adj.擅长的；熟练的n.能手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词根ept-“倾向”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inept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/ɪˈnept/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adj.无能的；笨拙的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in“not”+ept“（能力）倾向”，adj.无能的；笨拙的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词根ept-“倾向”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bone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/bəʊn/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b“支撑人体”+one，n.骨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词根ept-“倾向”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rib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/rɪb/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n.肋骨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r“转”+i+b“支撑人体”，n.肋骨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字母b--走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500518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字母b--“走”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block, ebb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345423" y="1234440"/>
            <a:ext cx="3500518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词根bat-“走”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acrobat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142206" y="1234440"/>
            <a:ext cx="3500518" cy="250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词根bas(s)-“走”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abasia, ambassador, ambassadress, embassy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4"/>
          <p:cNvSpPr/>
          <p:nvPr/>
        </p:nvSpPr>
        <p:spPr>
          <a:xfrm>
            <a:off x="548640" y="4080323"/>
            <a:ext cx="3500518" cy="1951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前缀ab-“离开”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600">
                <a:solidFill>
                  <a:srgbClr val="3C3C3C"/>
                </a:solidFill>
                <a:latin typeface="微软雅黑" panose="020B0503020204020204" charset="-122"/>
              </a:rPr>
              <a:t>abnormal, absence, absorb, absurd, after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5"/>
          <p:cNvSpPr/>
          <p:nvPr/>
        </p:nvSpPr>
        <p:spPr>
          <a:xfrm>
            <a:off x="4345423" y="4080323"/>
            <a:ext cx="3500518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前缀abs-“离开”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abstract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6"/>
          <p:cNvSpPr/>
          <p:nvPr/>
        </p:nvSpPr>
        <p:spPr>
          <a:xfrm>
            <a:off x="8142206" y="4080323"/>
            <a:ext cx="3500518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前缀a-“离开”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ago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7"/>
          <p:cNvSpPr/>
          <p:nvPr/>
        </p:nvSpPr>
        <p:spPr>
          <a:xfrm>
            <a:off x="548640" y="1234440"/>
            <a:ext cx="3500518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前缀ap-“离开”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apology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8"/>
          <p:cNvSpPr/>
          <p:nvPr/>
        </p:nvSpPr>
        <p:spPr>
          <a:xfrm>
            <a:off x="4345423" y="1234440"/>
            <a:ext cx="3500518" cy="29803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词根apt-“倾向”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apt, aptness, aptitude, attitude, adapt, adaptable, adaptability, adaptation, inapt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9"/>
          <p:cNvSpPr/>
          <p:nvPr/>
        </p:nvSpPr>
        <p:spPr>
          <a:xfrm>
            <a:off x="8142206" y="1234440"/>
            <a:ext cx="3500518" cy="20201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词根ept-“倾向”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adept, inept, bone, rib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