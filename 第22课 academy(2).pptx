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历史文化典故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ITLE_ROOT"/>
          <p:cNvSpPr txBox="1"/>
          <p:nvPr/>
        </p:nvSpPr>
        <p:spPr>
          <a:xfrm>
            <a:off x="548640" y="1580515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微软雅黑" panose="020B0503020204020204" charset="-122"/>
              </a:rPr>
              <a:t>历史文化典故</a:t>
            </a:r>
            <a:endParaRPr sz="4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4" name="ROOT_LOGIC_DESC"/>
          <p:cNvSpPr txBox="1"/>
          <p:nvPr/>
        </p:nvSpPr>
        <p:spPr>
          <a:xfrm>
            <a:off x="548640" y="2494915"/>
            <a:ext cx="326390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微软雅黑" panose="020B0503020204020204" charset="-122"/>
              </a:rPr>
              <a:t>第22课 Academy （六）历史文化典故</a:t>
            </a:r>
            <a:endParaRPr sz="32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SUB_ITEM_UNIT_1"/>
          <p:cNvSpPr txBox="1"/>
          <p:nvPr/>
        </p:nvSpPr>
        <p:spPr>
          <a:xfrm>
            <a:off x="731520" y="3337560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1  意项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SUB_ITEM_UNIT_2"/>
          <p:cNvSpPr txBox="1"/>
          <p:nvPr/>
        </p:nvSpPr>
        <p:spPr>
          <a:xfrm>
            <a:off x="731520" y="4096512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  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3"/>
          <p:cNvSpPr txBox="1"/>
          <p:nvPr/>
        </p:nvSpPr>
        <p:spPr>
          <a:xfrm>
            <a:off x="731520" y="4855464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  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Akademeia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意思是“ Akademos 的果园”。后来，哲学家柏拉图在那个果园里创建了学院，人们称之为 Akademeia ，进入英语演变成academy ，原本特指柏拉图所创建的学院，后泛指各种学术研究机构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历史文化典故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academy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/əˈkædəmi/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n.学院；专科院校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历史文化典故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academia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/ˌækəˈdiːmiə/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n.学术界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academ（y）“学院”+i+a表地点，n.学术界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历史文化典故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academic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/ˌækəˈdemɪk/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adj.学术的；学院的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academ(y) “学院”+ic形容词后缀，adj.学术的；学院的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历史文化典故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academically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/ˌækəˈdemɪkli/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adv.学术上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academic“学术的”+al形容词后缀+ly副词后缀，adv.学术上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历史文化典故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academician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/əˌkædəˈmɪʃn/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n.院士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academic “学院的”+i+an表人，n.院士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历史文化典故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UMMARY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微软雅黑" panose="020B0503020204020204" charset="-122"/>
              </a:rPr>
              <a:t>Summary</a:t>
            </a:r>
            <a:endParaRPr sz="3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1"/>
          <p:cNvSpPr/>
          <p:nvPr/>
        </p:nvSpPr>
        <p:spPr>
          <a:xfrm>
            <a:off x="548640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Akademeia, academy, academia, academic, academically, academician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