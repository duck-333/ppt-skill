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词根carb-，即car“马车”+b“树干”，表示“碳”。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字母b--“树干”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词根carb-“碳”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词根bar-“棍；棒；木条；栅栏”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  <p:sp>
        <p:nvSpPr>
          <p:cNvPr id="7" name="SUB_ITEM_UNIT_4"/>
          <p:cNvSpPr txBox="1"/>
          <p:nvPr/>
        </p:nvSpPr>
        <p:spPr>
          <a:xfrm>
            <a:off x="731520" y="561441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4  词根bar-“压力；重”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5"/>
          <p:cNvSpPr txBox="1"/>
          <p:nvPr/>
        </p:nvSpPr>
        <p:spPr>
          <a:xfrm>
            <a:off x="731520" y="6373368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5  词根barg-“驳船”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6"/>
          <p:cNvSpPr txBox="1"/>
          <p:nvPr/>
        </p:nvSpPr>
        <p:spPr>
          <a:xfrm>
            <a:off x="731520" y="713232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6  词根bark-“驳船”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board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/bɔːd/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n.木板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0" i="1">
                <a:solidFill>
                  <a:srgbClr val="000000"/>
                </a:solidFill>
                <a:latin typeface="微软雅黑" panose="020B0503020204020204" charset="-122"/>
              </a:rPr>
              <a:t>即 b“树干”+o+ard“to be”，n.木板
【释义】树干做成木板，木板用途广泛，可做告示牌；布告栏；可做餐桌，引申义膳食；可做会议桌，引申义董事会；可做甲板，指代船，飞机，火车等。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boat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/bəʊt/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n.小船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b“树干”+o“空间”+at动词后缀，n.小船
【释义】树干中部掏空制成的独木舟。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box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/bɒks/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n.箱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b“树干”+o“空间”+x“十字交叉”，n.箱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词根carb-“碳”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carbon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/ˈkɑːbən/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n.碳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carb“碳”+on通one，n.碳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词根carb-“碳”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carbohydrate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/ˌkɑːbəʊˈhaɪdreɪt/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n.碳水化合物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carb“碳”+o+hydr“水”+ate动词后缀，n.碳水化合物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/bɑː(r)/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n.木条；杆；棒；栅栏；吧台；法庭；律师v.禁止；阻拦；在……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【释义】吧台是酒吧的核心工作区域，用木栅栏与客人隔开；法庭上律师辩护处也有木栅栏与法官席隔开。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barrier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/ˈbæriə(r)/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n.木栅栏；障碍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bar“栅栏”+（ba）r“栅栏”+i+er表物，n.木栅栏；障碍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barrister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/ˈbærɪstə(r)/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n.律师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0" i="1">
                <a:solidFill>
                  <a:srgbClr val="000000"/>
                </a:solidFill>
                <a:latin typeface="微软雅黑" panose="020B0503020204020204" charset="-122"/>
              </a:rPr>
              <a:t>即 bar“栅栏”+（ba）r“栅栏”+i+ster表人，n.律师
【释义】法庭上律师辩护处有木栅栏与法官席隔开，barrister是指有资格越过围栏，上挺辩护的律师。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barrel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/ˈbærəl/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bar“木条”+（ba）r“木条”+e+l“桶箍条”，n.桶
【释义】木条箍起来就是桶。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barbecue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/ˈbɑːbɪkjuː/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n.户外烧烤v.烧烤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0" i="1">
                <a:solidFill>
                  <a:srgbClr val="000000"/>
                </a:solidFill>
                <a:latin typeface="微软雅黑" panose="020B0503020204020204" charset="-122"/>
              </a:rPr>
              <a:t>即 bar“栅栏”+be+cu通cook“烹饪”+e，n.户外烧烤v.烧烤
【释义】词语barbecue通barbeque或简写BBQ，字母组合cu通qu。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barcode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/ˈbɑːkəʊd/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n.条形码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 “木条”+code “密码”，n.条形码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debar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/dɪˈbɑː(r)/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v.阻止；防止；排除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de “down” +bar “禁止”，v.阻止；防止；排除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embar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/emˈbɑː/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v.囚禁；阻遏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em “使；进入”+bar “禁止”，v.囚禁；阻遏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embargo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/ɪmˈbɑːɡəʊ/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v.（贸易）禁运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em“使；进入”+bar“禁止”+go“运行”，v.（贸易）禁运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disembargo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/ˌdɪsɪmˈbɑːɡəʊ/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v.解除禁运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dis“not”+embargo“禁运”，v.解除禁运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词根bar-“压力；重”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barometer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/bəˈrɒmɪtə(r)/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n.气压表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bar“压力”+o+meter“测量”，n.气压表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词根bar-“压力；重”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baron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/ˈbærən/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n.男爵；大亨；巨头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0" i="1">
                <a:solidFill>
                  <a:srgbClr val="000000"/>
                </a:solidFill>
                <a:latin typeface="微软雅黑" panose="020B0503020204020204" charset="-122"/>
              </a:rPr>
              <a:t>即 bar“压力；重”+on通one，n.男爵；大亨；巨头
【释义】词语baron，“身负重任的人或重要的人”，通常指n.男爵，英国贵族的正式爵位。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词根bar-“压力；重”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baroness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/ˈbærənəs/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baron“男爵”+ess表女性，n.男爵夫人；女男爵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词根bar-“压力；重”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brute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/bruːt/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n.笨重难看的东西；野兽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b（a）r“重”+u“包含”+t动词后缀+e，n.笨重难看的东西；野兽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词根barg-“驳船”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barge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/bɑːdʒ/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n.驳船；平底载货船v.蛮不讲理地闯入；蓄意冲撞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【释义】驳船行动笨拙，遇到意外很难调整航向，很难做出有效的规避。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词根barg-“驳船”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bargain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/ˈbɑːɡən/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n.便宜货v.讨价还价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0" i="1">
                <a:solidFill>
                  <a:srgbClr val="000000"/>
                </a:solidFill>
                <a:latin typeface="微软雅黑" panose="020B0503020204020204" charset="-122"/>
              </a:rPr>
              <a:t>即 barg “驳船”+a通one+in “进入”，n.便宜货v.讨价还价
【释义】驳船的优势是载货量大，靠风力运输，成本相对较低，但驳船也有弱点，它靠风力（季风）航行，到港后，要等到下一次反向的季风才能回去。买家往往利用barge“驳船”这一弱点压价。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词根bark-“驳船”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embark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/ɪmˈbɑːk/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v.上船；从事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em“使；进入”+bark“驳船”，v.上船；从事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词根bark-“驳船”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6000" b="1">
                <a:solidFill>
                  <a:srgbClr val="FF0000"/>
                </a:solidFill>
                <a:latin typeface="微软雅黑" panose="020B0503020204020204" charset="-122"/>
              </a:rPr>
              <a:t>disembark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/ˌdɪsɪmˈbɑːk/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v.上岸；登陆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4550" cy="1661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dis“not”+embark“上船”，v.上岸；登陆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500518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字母b--“树干”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board, boat, box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345423" y="1234440"/>
            <a:ext cx="3500518" cy="20201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词根carb-“碳”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carbon, carbohydrate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142206" y="1234440"/>
            <a:ext cx="3500518" cy="38032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词根bar-“棍；棒；木条；栅栏”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bar, barrier, barrister, barrel, barbecue, barcode, debar, embar, embargo, disembargo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4"/>
          <p:cNvSpPr/>
          <p:nvPr/>
        </p:nvSpPr>
        <p:spPr>
          <a:xfrm>
            <a:off x="548640" y="1234440"/>
            <a:ext cx="3500518" cy="20201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词根bar-“压力；重”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barometer, baron, baroness, brute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5"/>
          <p:cNvSpPr/>
          <p:nvPr/>
        </p:nvSpPr>
        <p:spPr>
          <a:xfrm>
            <a:off x="4345423" y="1234440"/>
            <a:ext cx="3500518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词根barg-“驳船”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barge, bargain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6"/>
          <p:cNvSpPr/>
          <p:nvPr/>
        </p:nvSpPr>
        <p:spPr>
          <a:xfrm>
            <a:off x="8142206" y="1234440"/>
            <a:ext cx="3500518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词根bark-“驳船”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 sz="2800">
                <a:solidFill>
                  <a:srgbClr val="3C3C3C"/>
                </a:solidFill>
                <a:latin typeface="微软雅黑" panose="020B0503020204020204" charset="-122"/>
              </a:rPr>
              <a:t>embark, disembark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