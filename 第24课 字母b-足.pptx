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字母b--足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3" name="TITLE_ROOT"/>
          <p:cNvSpPr txBox="1"/>
          <p:nvPr/>
        </p:nvSpPr>
        <p:spPr>
          <a:xfrm>
            <a:off x="548640" y="1580515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400" b="1">
                <a:solidFill>
                  <a:srgbClr val="000000"/>
                </a:solidFill>
                <a:latin typeface="微软雅黑" panose="020B0503020204020204" charset="-122"/>
              </a:rPr>
              <a:t>字母b--足</a:t>
            </a:r>
            <a:endParaRPr sz="4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4" name="ROOT_LOGIC_DESC"/>
          <p:cNvSpPr txBox="1"/>
          <p:nvPr/>
        </p:nvSpPr>
        <p:spPr>
          <a:xfrm>
            <a:off x="548640" y="2494915"/>
            <a:ext cx="3263900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微软雅黑" panose="020B0503020204020204" charset="-122"/>
              </a:rPr>
              <a:t>字母b，源自古埃及象形文字，是足的象形，音：/b/。
1.字母b--足</a:t>
            </a:r>
            <a:endParaRPr sz="32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5" name="SUB_ITEM_UNIT_1"/>
          <p:cNvSpPr txBox="1"/>
          <p:nvPr/>
        </p:nvSpPr>
        <p:spPr>
          <a:xfrm>
            <a:off x="731520" y="3337560"/>
            <a:ext cx="4423410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微软雅黑" panose="020B0503020204020204" charset="-122"/>
              </a:rPr>
              <a:t>1  意项</a:t>
            </a:r>
            <a:endParaRPr sz="32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SUB_ITEM_UNIT_2"/>
          <p:cNvSpPr txBox="1"/>
          <p:nvPr/>
        </p:nvSpPr>
        <p:spPr>
          <a:xfrm>
            <a:off x="731520" y="4096512"/>
            <a:ext cx="4423410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微软雅黑" panose="020B0503020204020204" charset="-122"/>
              </a:rPr>
              <a:t>2  字母b--“足”</a:t>
            </a:r>
            <a:endParaRPr sz="32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SUB_ITEM_UNIT_3"/>
          <p:cNvSpPr txBox="1"/>
          <p:nvPr/>
        </p:nvSpPr>
        <p:spPr>
          <a:xfrm>
            <a:off x="731520" y="4855464"/>
            <a:ext cx="4423410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微软雅黑" panose="020B0503020204020204" charset="-122"/>
              </a:rPr>
              <a:t>3  词根be-“在（某处）；存在；是；成为”</a:t>
            </a:r>
            <a:endParaRPr sz="32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意项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b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源自古埃及象形文字，是足的象形，音：/b/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/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字母b--足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字母b--“足”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bare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/beə (r)/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v.裸露adj.裸露的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b“足”+are“be”，v.裸露adj.裸露的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字母b--足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字母b--“足”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bare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“赤脚的状态”，引申出v.裸露adj.裸露的；最基本的等词义。词语bare指局部裸露，而naked指全裸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/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字母b--足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字母b--“足”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boot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/buːt/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v.踢；启动；解雇n.靴子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b “足”+oo+t动词后缀，v.踢；启动；解雇n.靴子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字母b--足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字母b--“足”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bug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/bʌɡ/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n.小虫；故障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b“足”+u“包含”+g“go”，n.小虫；故障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字母b--足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字母b--“足”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bide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/baɪd/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v.停留；等待；忍耐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b“足”+ide通ite动词后缀，v.停留；等待；忍耐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字母b--足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字母b--“足”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bide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“驻足（停留）”，引申出v.停留；等待；忍耐等词义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/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字母b--足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字母b--“足”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abide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/əˈbaɪd/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v.遵守；忍受；坚持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a“on”+bide“停留”，v.遵守；忍受；坚持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字母b--足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字母b--“足”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climb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/klaɪm/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v.爬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clim“倾斜”+b“足”，v.爬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字母b--足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字母b--“足”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climb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“足呈倾斜状态”，有别于直立行走的状态，表示v.爬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/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字母b--足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词根be-“在（某处）；存在；是；成为”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be-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/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b-“足”+e，表示“在（某处）；存在；是；成为”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字母b--足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词根be-“在（某处）；存在；是；成为”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be-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“脚踏实地”，表示“在（某处）”，引申出“存在；是；成为”等词义。字母e为b的本身音，构词时常脱落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/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字母b--足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词根be-“在（某处）；存在；是；成为”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be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/biː/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v.在（某处）；存在；是；成为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/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字母b--足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词根be-“在（某处）；存在；是；成为”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been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/biːn/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v.是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/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字母b--足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词根be-“在（某处）；存在；是；成为”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being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/ˈbiːɪŋ/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n.存在；本质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be “存在”+ing，n.存在；本质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字母b--足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词根be-“在（某处）；存在；是；成为”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bean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/biːn/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n.豆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be+an通one，n.豆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字母b--足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词根be-“在（某处）；存在；是；成为”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bean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强调“豆子是一颗一颗的”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/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字母b--足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词根be-“在（某处）；存在；是；成为”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beast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/biːst/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n.野兽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be+(f)ast“迅速的”，n.野兽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字母b--足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词根be-“在（某处）；存在；是；成为”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beauty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/ˈbjuːti/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n.美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be+aut(o)“自己”+y，n.美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字母b--足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词根be-“在（某处）；存在；是；成为”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beauty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“做自己”—这是西方文化中最自信的一句话。自信的人富于人格魅力。美貌最终输给岁月，唯有自信永远不败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/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字母b--足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词根be-“在（某处）；存在；是；成为”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become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/bɪˈkʌm/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v.成为；适合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be+come“来”，v.成为；适合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字母b--足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词根be-“在（某处）；存在；是；成为”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before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/bɪˈfɔː(r)/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/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be+fore“前面”，prep.在……之前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字母b--足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词根be-“在（某处）；存在；是；成为”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befriend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/bɪˈfrend/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v.做……的朋友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be+friend“朋友”，v.做……的朋友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字母b--足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词根be-“在（某处）；存在；是；成为”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beg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/beɡ/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v.行乞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be+g “go”，v.行乞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字母b--足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词根be-“在（某处）；存在；是；成为”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beggar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/ˈbeɡə(r)/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n.乞丐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beg “行乞”+g双写+ar“be”，n.乞丐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字母b--足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词根be-“在（某处）；存在；是；成为”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begin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/bɪˈɡɪn/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v.开始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be +gin “产生”，v.开始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字母b--足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词根be-“在（某处）；存在；是；成为”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behalf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/bɪˈhɑːf/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n.代表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be+half “一半”，n.代表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字母b--足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词根be-“在（某处）；存在；是；成为”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behalf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“代表一部分人的利益”，n.代表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/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字母b--足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词根be-“在（某处）；存在；是；成为”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behave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/bɪˈheɪv/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v.表现；举止得体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be+have“持有”，v.表现；举止得体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字母b--足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词根be-“在（某处）；存在；是；成为”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behind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/bɪˈhaɪnd/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/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be+hind“后面”，prep.在……的后面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字母b--足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词根be-“在（某处）；存在；是；成为”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believe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/bɪˈliːv/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v.相信；信任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be+lieve通leave“离开”，v.相信；信任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字母b--足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词根be-“在（某处）；存在；是；成为”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believe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“允许离开”，隐含“对某人的充分信任”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/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字母b--足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词根be-“在（某处）；存在；是；成为”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belief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/bɪˈliːf/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词语believe的名词形式，n.相信；信念；信仰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/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字母b--足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词根be-“在（某处）；存在；是；成为”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belong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/bɪˈlɒŋ/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v.归……所有；居住；属于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be+long“长期的”，v.归……所有；居住；属于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字母b--足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词根be-“在（某处）；存在；是；成为”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belongings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/bɪˈlɒŋɪŋz/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n.财产；所有物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belong“归……所有”+ing+s复数，n.财产；所有物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字母b--足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词根be-“在（某处）；存在；是；成为”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beloved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/bɪˈlʌvɪd/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adj.亲爱的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be+lov（e）“爱”+ed形容词后缀，adj.亲爱的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字母b--足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词根be-“在（某处）；存在；是；成为”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below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/bɪˈləʊ/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/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be +low “低的”，prep.在……下面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字母b--足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词根be-“在（某处）；存在；是；成为”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beside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/bɪˈsaɪd/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/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be+side“边”，prep.在……旁边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字母b--足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词根be-“在（某处）；存在；是；成为”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betray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/bɪˈtreɪ/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v.背叛；出卖；泄露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be+tra“转”+y，v.背叛；出卖；泄露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字母b--足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词根be-“在（某处）；存在；是；成为”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between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/bɪˈtwiːn/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/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be +tw（o） “二”+een“in”，prep.在两者之间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字母b--足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词根be-“在（某处）；存在；是；成为”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but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/bʌt/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/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b“be”+(o)ut“在外”，prep.除……以外conj.但是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字母b--足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词根be-“在（某处）；存在；是；成为”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about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/əˈbaʊt/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/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a “on”+b “be”+out “在外”，prep.在……周围adv.大约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字母b--足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UMMARY_TITLE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微软雅黑" panose="020B0503020204020204" charset="-122"/>
              </a:rPr>
              <a:t>Summary</a:t>
            </a:r>
            <a:endParaRPr sz="3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3" name="SUMMARY_UNIT_1"/>
          <p:cNvSpPr/>
          <p:nvPr/>
        </p:nvSpPr>
        <p:spPr>
          <a:xfrm>
            <a:off x="548640" y="1234440"/>
            <a:ext cx="3703320" cy="192024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50000"/>
              </a:lnSpc>
            </a:pPr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意项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b="0">
                <a:solidFill>
                  <a:srgbClr val="3C3C3C"/>
                </a:solidFill>
                <a:latin typeface="微软雅黑" panose="020B0503020204020204" charset="-122"/>
              </a:rPr>
              <a:t>b</a:t>
            </a:r>
            <a:endParaRPr b="0">
              <a:solidFill>
                <a:srgbClr val="3C3C3C"/>
              </a:solidFill>
              <a:latin typeface="微软雅黑" panose="020B0503020204020204" charset="-122"/>
            </a:endParaRPr>
          </a:p>
        </p:txBody>
      </p:sp>
      <p:sp>
        <p:nvSpPr>
          <p:cNvPr id="3" name="SUMMARY_UNIT_2"/>
          <p:cNvSpPr/>
          <p:nvPr/>
        </p:nvSpPr>
        <p:spPr>
          <a:xfrm>
            <a:off x="4548225" y="1234440"/>
            <a:ext cx="3703320" cy="192024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50000"/>
              </a:lnSpc>
            </a:pPr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字母b--“足”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b="0">
                <a:solidFill>
                  <a:srgbClr val="3C3C3C"/>
                </a:solidFill>
                <a:latin typeface="微软雅黑" panose="020B0503020204020204" charset="-122"/>
              </a:rPr>
              <a:t>bare, bare, boot, bug, bide, bide, abide, climb, climb</a:t>
            </a:r>
            <a:endParaRPr b="0">
              <a:solidFill>
                <a:srgbClr val="3C3C3C"/>
              </a:solidFill>
              <a:latin typeface="微软雅黑" panose="020B0503020204020204" charset="-122"/>
            </a:endParaRPr>
          </a:p>
        </p:txBody>
      </p:sp>
      <p:sp>
        <p:nvSpPr>
          <p:cNvPr id="3" name="SUMMARY_UNIT_3"/>
          <p:cNvSpPr/>
          <p:nvPr/>
        </p:nvSpPr>
        <p:spPr>
          <a:xfrm>
            <a:off x="8547810" y="1234440"/>
            <a:ext cx="3703320" cy="192024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50000"/>
              </a:lnSpc>
            </a:pPr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词根be-“在（某处）；存在；是；成为”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b="0">
                <a:solidFill>
                  <a:srgbClr val="3C3C3C"/>
                </a:solidFill>
                <a:latin typeface="微软雅黑" panose="020B0503020204020204" charset="-122"/>
              </a:rPr>
              <a:t>be-, be-, be, been, being, bean, bean, beast, beauty, beauty, become, before, befriend, beg, beggar, begin, behalf, behalf, behave, behind, believe, believe, belief, belong, belongings, beloved, below, beside, betray, between, but, about</a:t>
            </a:r>
            <a:endParaRPr b="0">
              <a:solidFill>
                <a:srgbClr val="3C3C3C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500.8,&quot;left&quot;:48,&quot;top&quot;:77.3,&quot;width&quot;:955.7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