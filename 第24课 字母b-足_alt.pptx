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3"/>
          <a:stretch>
            <a:fillRect/>
          </a:stretch>
        </p:blipFill>
        <p:spPr>
          <a:xfrm>
            <a:off x="-15240" y="0"/>
            <a:ext cx="12192000" cy="6858000"/>
          </a:xfrm>
          <a:prstGeom prst="rect">
            <a:avLst/>
          </a:prstGeom>
        </p:spPr>
      </p:pic>
      <p:sp>
        <p:nvSpPr>
          <p:cNvPr id="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sp>
        <p:nvSpPr>
          <p:cNvPr id="3" name="TITLE_ROOT"/>
          <p:cNvSpPr txBox="1"/>
          <p:nvPr/>
        </p:nvSpPr>
        <p:spPr>
          <a:xfrm>
            <a:off x="548640" y="1580515"/>
            <a:ext cx="11064240" cy="822960"/>
          </a:xfrm>
          <a:prstGeom prst="rect">
            <a:avLst/>
          </a:prstGeom>
          <a:noFill/>
        </p:spPr>
        <p:txBody>
          <a:bodyPr wrap="none">
            <a:spAutoFit/>
          </a:bodyPr>
          <a:lstStyle/>
          <a:p>
            <a:pPr algn="l"/>
            <a:r>
              <a:rPr sz="4400" b="1">
                <a:solidFill>
                  <a:srgbClr val="000000"/>
                </a:solidFill>
                <a:latin typeface="微软雅黑" panose="020B0503020204020204" charset="-122"/>
              </a:rPr>
              <a:t>字母b--足</a:t>
            </a:r>
            <a:endParaRPr sz="4400" b="1">
              <a:solidFill>
                <a:srgbClr val="000000"/>
              </a:solidFill>
              <a:latin typeface="微软雅黑" panose="020B0503020204020204" charset="-122"/>
            </a:endParaRPr>
          </a:p>
        </p:txBody>
      </p:sp>
      <p:sp>
        <p:nvSpPr>
          <p:cNvPr id="4" name="ROOT_LOGIC_DESC"/>
          <p:cNvSpPr txBox="1"/>
          <p:nvPr/>
        </p:nvSpPr>
        <p:spPr>
          <a:xfrm>
            <a:off x="548640" y="2494915"/>
            <a:ext cx="3263900" cy="583565"/>
          </a:xfrm>
          <a:prstGeom prst="rect">
            <a:avLst/>
          </a:prstGeom>
          <a:noFill/>
        </p:spPr>
        <p:txBody>
          <a:bodyPr wrap="none">
            <a:spAutoFit/>
          </a:bodyPr>
          <a:lstStyle/>
          <a:p>
            <a:pPr algn="l"/>
            <a:r>
              <a:rPr sz="3200" b="0">
                <a:solidFill>
                  <a:srgbClr val="000000"/>
                </a:solidFill>
                <a:latin typeface="微软雅黑" panose="020B0503020204020204" charset="-122"/>
              </a:rPr>
              <a:t>字母b，源自古埃及象形文字，是足的象形，音：/b/。
1.字母b--足</a:t>
            </a:r>
            <a:endParaRPr sz="3200" b="0">
              <a:solidFill>
                <a:srgbClr val="000000"/>
              </a:solidFill>
              <a:latin typeface="微软雅黑" panose="020B0503020204020204" charset="-122"/>
            </a:endParaRPr>
          </a:p>
        </p:txBody>
      </p:sp>
      <p:sp>
        <p:nvSpPr>
          <p:cNvPr id="5" name="SUB_ITEM_UNIT_1"/>
          <p:cNvSpPr txBox="1"/>
          <p:nvPr/>
        </p:nvSpPr>
        <p:spPr>
          <a:xfrm>
            <a:off x="731520" y="3337560"/>
            <a:ext cx="4423410" cy="583565"/>
          </a:xfrm>
          <a:prstGeom prst="rect">
            <a:avLst/>
          </a:prstGeom>
          <a:noFill/>
        </p:spPr>
        <p:txBody>
          <a:bodyPr wrap="none">
            <a:spAutoFit/>
          </a:bodyPr>
          <a:lstStyle/>
          <a:p>
            <a:pPr algn="l"/>
            <a:r>
              <a:rPr sz="3200" b="1">
                <a:solidFill>
                  <a:srgbClr val="000000"/>
                </a:solidFill>
                <a:latin typeface="微软雅黑" panose="020B0503020204020204" charset="-122"/>
              </a:rPr>
              <a:t>1  字母b--“足”</a:t>
            </a:r>
            <a:endParaRPr sz="3200" b="1">
              <a:solidFill>
                <a:srgbClr val="000000"/>
              </a:solidFill>
              <a:latin typeface="微软雅黑" panose="020B0503020204020204" charset="-122"/>
            </a:endParaRPr>
          </a:p>
        </p:txBody>
      </p:sp>
      <p:sp>
        <p:nvSpPr>
          <p:cNvPr id="6" name="SUB_ITEM_UNIT_2"/>
          <p:cNvSpPr txBox="1"/>
          <p:nvPr/>
        </p:nvSpPr>
        <p:spPr>
          <a:xfrm>
            <a:off x="731520" y="4096512"/>
            <a:ext cx="4423410" cy="583565"/>
          </a:xfrm>
          <a:prstGeom prst="rect">
            <a:avLst/>
          </a:prstGeom>
          <a:noFill/>
        </p:spPr>
        <p:txBody>
          <a:bodyPr wrap="none">
            <a:spAutoFit/>
          </a:bodyPr>
          <a:lstStyle/>
          <a:p>
            <a:pPr algn="l"/>
            <a:r>
              <a:rPr sz="3200" b="1">
                <a:solidFill>
                  <a:srgbClr val="000000"/>
                </a:solidFill>
                <a:latin typeface="微软雅黑" panose="020B0503020204020204" charset="-122"/>
              </a:rPr>
              <a:t>2  词根be-“在（某处）；存在；是；成为”</a:t>
            </a:r>
            <a:endParaRPr sz="3200" b="1">
              <a:solidFill>
                <a:srgbClr val="000000"/>
              </a:solidFill>
              <a:latin typeface="微软雅黑" panose="020B0503020204020204" charset="-122"/>
            </a:endParaRPr>
          </a:p>
        </p:txBody>
      </p:sp>
      <p:sp>
        <p:nvSpPr>
          <p:cNvPr id="7" name="SUB_ITEM_UNIT_3"/>
          <p:cNvSpPr txBox="1"/>
          <p:nvPr/>
        </p:nvSpPr>
        <p:spPr>
          <a:xfrm>
            <a:off x="731520" y="4855464"/>
            <a:ext cx="4423410" cy="583565"/>
          </a:xfrm>
          <a:prstGeom prst="rect">
            <a:avLst/>
          </a:prstGeom>
          <a:noFill/>
        </p:spPr>
        <p:txBody>
          <a:bodyPr wrap="none">
            <a:spAutoFit/>
          </a:bodyPr>
          <a:lstStyle/>
          <a:p>
            <a:pPr algn="l"/>
            <a:r>
              <a:rPr sz="3200" b="1">
                <a:solidFill>
                  <a:srgbClr val="000000"/>
                </a:solidFill>
                <a:latin typeface="微软雅黑" panose="020B0503020204020204" charset="-122"/>
              </a:rPr>
              <a:t>  </a:t>
            </a:r>
            <a:endParaRPr sz="32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bare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/beə (r)/</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v.裸露adj.裸露的</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2200" b="0" i="1">
                <a:solidFill>
                  <a:srgbClr val="000000"/>
                </a:solidFill>
                <a:latin typeface="微软雅黑" panose="020B0503020204020204" charset="-122"/>
              </a:rPr>
              <a:t>即 b“足”+are“be”，v.裸露adj.裸露的
【释义】词语bare，“赤脚的状态”，引申出v.裸露adj.裸露的；最基本的等词义。词语bare指局部裸露，而naked指全裸。</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boot</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/buːt/</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200" b="1">
                <a:solidFill>
                  <a:srgbClr val="000000"/>
                </a:solidFill>
                <a:latin typeface="微软雅黑" panose="020B0503020204020204" charset="-122"/>
              </a:rPr>
              <a:t>v.踢；启动；解雇n.靴子</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 “足”+oo+t动词后缀，v.踢；启动；解雇n.靴子</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bug</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/bʌɡ/</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n.小虫；故障</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2200" b="0" i="1">
                <a:solidFill>
                  <a:srgbClr val="000000"/>
                </a:solidFill>
                <a:latin typeface="微软雅黑" panose="020B0503020204020204" charset="-122"/>
              </a:rPr>
              <a:t>即 b“足”+u“包含”+g“go”，n.小虫；故障
【释义】据说发明家爱迪生有一次在检查设备时发现电路故障的原因是里面死了一只小虫子（bug），这是词语bug表示n.故障的由来。</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bide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/baɪd/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v.停留；等待；忍耐</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2200" b="0" i="1">
                <a:solidFill>
                  <a:srgbClr val="000000"/>
                </a:solidFill>
                <a:latin typeface="微软雅黑" panose="020B0503020204020204" charset="-122"/>
              </a:rPr>
              <a:t>即 b“足”+ide通ite动词后缀，v.停留；等待；忍耐
【释义】词语bide，“驻足（停留）”，引申出v.停留；等待；忍耐等词义。</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abide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/əˈbaɪd/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v.遵守；忍受；坚持</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a“on”+bide“停留”，v.遵守；忍受；坚持</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climb</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/klaɪm/</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v.爬</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clim“倾斜”+b“足”，v.爬
【释义】词语climb，“足呈倾斜状态”，有别于直立行走的状态，表示v.爬。</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/biː/</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v.在（某处）；存在；是；成为</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been</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/biːn/</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v.是</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【释义】助动词be的过去分词。</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being</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/ˈbiːɪŋ/</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n.存在；本质</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 “存在”+ing，n.存在；本质
【释义】助动词be的现在分词。</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bean</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/biːn/</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n.豆</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be+an通one，n.豆
【释义】词语bean，强调“豆子是一颗一颗的”。</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beast</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/biːst/</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n.野兽</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be+(f)ast“迅速的”，n.野兽
【释义】词语beast强调野生猛兽行动迅速。</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beauty</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/ˈbjuːti/</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n.美</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2200" b="0" i="1">
                <a:solidFill>
                  <a:srgbClr val="000000"/>
                </a:solidFill>
                <a:latin typeface="微软雅黑" panose="020B0503020204020204" charset="-122"/>
              </a:rPr>
              <a:t>即 be+aut(o)“自己”+y，n.美
【释义】词语beauty，“做自己”—这是西方文化中最自信的一句话。自信的人富于人格魅力。美貌最终输给岁月，唯有自信永远不败。</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become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/bɪˈkʌm/</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v.成为；适合</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be+come“来”，v.成为；适合</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before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/bɪˈfɔː(r)/</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prep.在……之前</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be+fore“前面”，prep.在……之前</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befriend</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/bɪˈfrend/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v.做……的朋友</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be+friend“朋友”，v.做……的朋友</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beg</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/beɡ/</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v.行乞</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be+g “go”，v.行乞</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beggar</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/ˈbeɡə(r)/</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n.乞丐</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beg “行乞”+g双写+ar“be”，n.乞丐</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begin</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/bɪˈɡɪn/</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v.开始</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 +gin “产生”，v.开始</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behalf</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/bɪˈhɑːf/</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n.代表</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be+half “一半”，n.代表
【释义】词语behalf，“代表一部分人的利益”，n.代表。</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behave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/bɪˈheɪv/</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v.表现；举止得体</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be+have“持有”，v.表现；举止得体</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behind</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/bɪˈhaɪnd/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prep.在……的后面</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be+hind“后面”，prep.在……的后面</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believe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/bɪˈliːv/</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v.相信；信任</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be+lieve通leave“离开”，v.相信；信任
【释义】词语believe，“允许离开”，隐含“对某人的充分信任”。</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belief</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/bɪˈliːf/</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词语believe的名词形式，n.相信；信念；信仰</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belong</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/bɪˈlɒŋ/</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v.归……所有；居住；属于</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be+long“长期的”，v.归……所有；居住；属于</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belongings</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/bɪˈlɒŋɪŋz/</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n.财产；所有物</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belong“归……所有”+ing+s复数，n.财产；所有物</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beloved</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/bɪˈlʌvɪd/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adj.亲爱的</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be+lov（e）“爱”+ed形容词后缀，adj.亲爱的</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below</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/bɪˈləʊ/</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prep.在……下面</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 +low “低的”，prep.在……下面</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beside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/bɪˈsaɪd/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prep.在……旁边</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be+side“边”，prep.在……旁边</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betray</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/bɪˈtreɪ/</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v.背叛；出卖；泄露</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be+tra“转”+y，v.背叛；出卖；泄露</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between</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/bɪˈtwiːn/</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prep.在两者之间</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 +tw（o） “二”+een“in”，prep.在两者之间</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but</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/bʌt/</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prep.除……以外conj.但是</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b“be”+(o)ut“在外”，prep.除……以外conj.但是</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about</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/əˈbaʊt/</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prep.在……周围adv.大约</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a “on”+b “be”+out “在外”，prep.在……周围adv.大约</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2" name="SUMMARY_TITLE"/>
          <p:cNvSpPr txBox="1"/>
          <p:nvPr/>
        </p:nvSpPr>
        <p:spPr>
          <a:xfrm>
            <a:off x="548640" y="320040"/>
            <a:ext cx="11064240" cy="640080"/>
          </a:xfrm>
          <a:prstGeom prst="rect">
            <a:avLst/>
          </a:prstGeom>
          <a:noFill/>
        </p:spPr>
        <p:txBody>
          <a:bodyPr wrap="none">
            <a:spAutoFit/>
          </a:bodyPr>
          <a:lstStyle/>
          <a:p>
            <a:pPr algn="l"/>
            <a:r>
              <a:rPr sz="3400" b="1">
                <a:solidFill>
                  <a:srgbClr val="000000"/>
                </a:solidFill>
                <a:latin typeface="微软雅黑" panose="020B0503020204020204" charset="-122"/>
              </a:rPr>
              <a:t>Summary</a:t>
            </a:r>
            <a:endParaRPr sz="3400" b="1">
              <a:solidFill>
                <a:srgbClr val="000000"/>
              </a:solidFill>
              <a:latin typeface="微软雅黑" panose="020B0503020204020204" charset="-122"/>
            </a:endParaRPr>
          </a:p>
        </p:txBody>
      </p:sp>
      <p:sp>
        <p:nvSpPr>
          <p:cNvPr id="3" name="SUMMARY_UNIT_1"/>
          <p:cNvSpPr/>
          <p:nvPr/>
        </p:nvSpPr>
        <p:spPr>
          <a:xfrm>
            <a:off x="548640" y="1234440"/>
            <a:ext cx="5398910" cy="2020180"/>
          </a:xfrm>
          <a:prstGeom prst="roundRect">
            <a:avLst/>
          </a:prstGeom>
          <a:solidFill>
            <a:schemeClr val="accent5">
              <a:lumMod val="20000"/>
              <a:lumOff val="80000"/>
            </a:schemeClr>
          </a:solidFill>
        </p:spPr>
        <p:style>
          <a:lnRef idx="2">
            <a:schemeClr val="lt1"/>
          </a:lnRef>
          <a:fillRef idx="1">
            <a:schemeClr val="accent1"/>
          </a:fillRef>
          <a:effectRef idx="1">
            <a:schemeClr val="accent1"/>
          </a:effectRef>
          <a:fontRef idx="minor">
            <a:schemeClr val="lt1"/>
          </a:fontRef>
        </p:style>
        <p:txBody>
          <a:bodyPr rtlCol="0" anchor="ctr" wrap="square">
            <a:noAutofit/>
          </a:bodyPr>
          <a:lstStyle/>
          <a:p>
            <a:pPr algn="l">
              <a:lnSpc>
                <a:spcPct val="150000"/>
              </a:lnSpc>
            </a:pPr>
            <a:r>
              <a:rPr sz="28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a:p>
            <a:pPr algn="l">
              <a:lnSpc>
                <a:spcPct val="150000"/>
              </a:lnSpc>
            </a:pPr>
            <a:r>
              <a:rPr b="0" sz="2800">
                <a:solidFill>
                  <a:srgbClr val="3C3C3C"/>
                </a:solidFill>
                <a:latin typeface="微软雅黑" panose="020B0503020204020204" charset="-122"/>
              </a:rPr>
              <a:t>bare, boot, bug, bide, abide, climb</a:t>
            </a:r>
            <a:endParaRPr b="0">
              <a:solidFill>
                <a:srgbClr val="3C3C3C"/>
              </a:solidFill>
              <a:latin typeface="微软雅黑" panose="020B0503020204020204" charset="-122"/>
            </a:endParaRPr>
          </a:p>
        </p:txBody>
      </p:sp>
      <p:sp>
        <p:nvSpPr>
          <p:cNvPr id="3" name="SUMMARY_UNIT_2"/>
          <p:cNvSpPr/>
          <p:nvPr/>
        </p:nvSpPr>
        <p:spPr>
          <a:xfrm>
            <a:off x="6243815" y="1234440"/>
            <a:ext cx="5398910" cy="4351900"/>
          </a:xfrm>
          <a:prstGeom prst="roundRect">
            <a:avLst/>
          </a:prstGeom>
          <a:solidFill>
            <a:schemeClr val="accent5">
              <a:lumMod val="20000"/>
              <a:lumOff val="80000"/>
            </a:schemeClr>
          </a:solidFill>
        </p:spPr>
        <p:style>
          <a:lnRef idx="2">
            <a:schemeClr val="lt1"/>
          </a:lnRef>
          <a:fillRef idx="1">
            <a:schemeClr val="accent1"/>
          </a:fillRef>
          <a:effectRef idx="1">
            <a:schemeClr val="accent1"/>
          </a:effectRef>
          <a:fontRef idx="minor">
            <a:schemeClr val="lt1"/>
          </a:fontRef>
        </p:style>
        <p:txBody>
          <a:bodyPr rtlCol="0" anchor="ctr" wrap="square">
            <a:noAutofit/>
          </a:bodyPr>
          <a:lstStyle/>
          <a:p>
            <a:pPr algn="l">
              <a:lnSpc>
                <a:spcPct val="150000"/>
              </a:lnSpc>
            </a:pPr>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a:p>
            <a:pPr algn="l">
              <a:lnSpc>
                <a:spcPct val="150000"/>
              </a:lnSpc>
            </a:pPr>
            <a:r>
              <a:rPr b="0" sz="2800">
                <a:solidFill>
                  <a:srgbClr val="3C3C3C"/>
                </a:solidFill>
                <a:latin typeface="微软雅黑" panose="020B0503020204020204" charset="-122"/>
              </a:rPr>
              <a:t>be, been, being, bean, beast, beauty, become, before, befriend, beg, beggar, begin, behalf, behave, behind, believe, belief, belong, belongings, beloved, below, beside, betray, between, but, about</a:t>
            </a:r>
            <a:endParaRPr b="0">
              <a:solidFill>
                <a:srgbClr val="3C3C3C"/>
              </a:solidFill>
              <a:latin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500.8,&quot;left&quot;:48,&quot;top&quot;:77.3,&quot;width&quot;:955.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