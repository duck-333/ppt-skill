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词根agog-“引导；煽动”：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TITLE_ROOT"/>
          <p:cNvSpPr txBox="1"/>
          <p:nvPr/>
        </p:nvSpPr>
        <p:spPr>
          <a:xfrm>
            <a:off x="548640" y="1580515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000000"/>
                </a:solidFill>
                <a:latin typeface="微软雅黑" panose="020B0503020204020204" charset="-122"/>
              </a:rPr>
              <a:t>词根 ag-“吆喝；驱赶；做；行动”</a:t>
            </a:r>
            <a:endParaRPr sz="4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4" name="ROOT_LOGIC_DESC"/>
          <p:cNvSpPr txBox="1"/>
          <p:nvPr/>
        </p:nvSpPr>
        <p:spPr>
          <a:xfrm>
            <a:off x="548640" y="2494915"/>
            <a:ext cx="326390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微软雅黑" panose="020B0503020204020204" charset="-122"/>
              </a:rPr>
              <a:t>词根ag-，即a“啊”+g“go”，表示“吆喝；驱赶；做；行动”。</a:t>
            </a:r>
            <a:endParaRPr sz="32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5" name="SUB_ITEM_UNIT_1"/>
          <p:cNvSpPr txBox="1"/>
          <p:nvPr/>
        </p:nvSpPr>
        <p:spPr>
          <a:xfrm>
            <a:off x="731520" y="3337560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1  意项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SUB_ITEM_UNIT_2"/>
          <p:cNvSpPr txBox="1"/>
          <p:nvPr/>
        </p:nvSpPr>
        <p:spPr>
          <a:xfrm>
            <a:off x="731520" y="4096512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2  词根ag-“吆喝；驱赶；做；行动”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SUB_ITEM_UNIT_3"/>
          <p:cNvSpPr txBox="1"/>
          <p:nvPr/>
        </p:nvSpPr>
        <p:spPr>
          <a:xfrm>
            <a:off x="731520" y="4855464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3  词根act-“做；行动”：act-act-词根act-，即ac通ag“做”+t动词后缀，act-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  <p:sp>
        <p:nvSpPr>
          <p:cNvPr id="7" name="SUB_ITEM_UNIT_4"/>
          <p:cNvSpPr txBox="1"/>
          <p:nvPr/>
        </p:nvSpPr>
        <p:spPr>
          <a:xfrm>
            <a:off x="731520" y="5614416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4  名词后缀-age表动作过程或状态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意项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ag-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a“啊”+g“go”，表示“吆喝；驱赶；做；行动”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词根agog-“引导；煽动”：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意项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ag-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“吆喝牛等动物去劳作或放牧”，表示“吆喝”，引申出“驱赶；做；行动”等词义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词根agog-“引导；煽动”：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词根ag-“吆喝；驱赶；做；行动”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agile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/ˈædʒaɪl/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adj.（动作）敏捷的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ag “做”+i+（ab）le“能的；可的”，adj.（动作）敏捷的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词根agog-“引导；煽动”：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词根ag-“吆喝；驱赶；做；行动”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agility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/əˈdʒɪləti/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n.（动作）敏捷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agil（e）“敏捷的”+ity表性质，n.（动作）敏捷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词根agog-“引导；煽动”：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词根ag-“吆喝；驱赶；做；行动”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agitate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/ˈædʒɪteɪt/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v.鼓动；煽动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ag “吆喝”+it动词后缀+ate动词后缀，v.鼓动；煽动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词根agog-“引导；煽动”：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词根ag-“吆喝；驱赶；做；行动”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agitation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/ˌædʒɪˈteɪʃ(ə)n/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n.鼓动；煽动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agitat（e）“鼓动”+ion名词后缀，n.鼓动；煽动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词根agog-“引导；煽动”：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词根ag-“吆喝；驱赶；做；行动”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agitator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/ˈædʒɪteɪtə(r)/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n.鼓动者；煽动者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agitat（e）“鼓动”+or名词后缀表人，n.鼓动者；煽动者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词根agog-“引导；煽动”：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词根ag-“吆喝；驱赶；做；行动”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agency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/ˈeɪdʒənsi/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n.代理；代理机构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ag“做”+ency名词后缀，n.代理；代理机构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词根agog-“引导；煽动”：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词根ag-“吆喝；驱赶；做；行动”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agent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/ˈeɪdʒənt/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n.动作者；代理人；媒介物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ag“做”+ent表动作者，n.动作者；代理人；媒介物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词根agog-“引导；煽动”：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词根ag-“吆喝；驱赶；做；行动”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coagent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/kəʊˈeɪdʒənt/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n.合作者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co “一起；共同”+agent “代理人”，n.合作者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词根agog-“引导；煽动”：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词根ag-“吆喝；驱赶；做；行动”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agenda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/əˈdʒendə/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n.议程；工作事项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ag “做”+end通ent现在分词后缀+a通one，n.议程；工作事项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词根agog-“引导；煽动”：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词根ag-“吆喝；驱赶；做；行动”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agon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/ˈæɡəʊn/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n.竞赛；斗争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ag“做”+on通one，n.竞赛；斗争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词根agog-“引导；煽动”：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词根ag-“吆喝；驱赶；做；行动”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agon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“to be number one”“力争第一”——古希腊的竞技体育精神，引申出n.（古希腊）竞赛；斗争等词义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词根agog-“引导；煽动”：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词根ag-“吆喝；驱赶；做；行动”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agony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/ˈæɡənɪ/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n.极度痛苦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agon“竞赛”+y，n.极度痛苦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词根agog-“引导；煽动”：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词根act-“做；行动”：act-act-词根act-，即ac通ag“做”+t动词后缀，act-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act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/ækt/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v.做；行动n.行为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act“做；行动”，v.做；行动n.行为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词根agog-“引导；煽动”：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词根act-“做；行动”：act-act-词根act-，即ac通ag“做”+t动词后缀，act-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action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/ˈækʃ(ə)n/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n.行动；行为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act“做；行动”+ion名词后缀，n.行动；行为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词根agog-“引导；煽动”：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词根act-“做；行动”：act-act-词根act-，即ac通ag“做”+t动词后缀，act-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actor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 ˈæktə(r)/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n.男演员；行动者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act“做；行动”+or表人或物，n.男演员；行动者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词根agog-“引导；煽动”：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词根act-“做；行动”：act-act-词根act-，即ac通ag“做”+t动词后缀，act-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actress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/ˈæktrəs/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n.女演员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act(o)r“演员”+ess表女性，n.女演员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词根agog-“引导；煽动”：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词根act-“做；行动”：act-act-词根act-，即ac通ag“做”+t动词后缀，act-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active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/ˈæktɪv/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adj.积极的；活跃的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act“做；行动”+ive形容词后缀，adj.积极的；活跃的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词根agog-“引导；煽动”：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词根act-“做；行动”：act-act-词根act-，即ac通ag“做”+t动词后缀，act-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actively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/ˈæktɪvli/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adv.积极地；活跃地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active“积极的”+ly副词后缀，adv.积极地；活跃地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词根agog-“引导；煽动”：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词根act-“做；行动”：act-act-词根act-，即ac通ag“做”+t动词后缀，act-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activity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/ækˈtɪvəti/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n.活动；活力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activ(e)“活跃的”+ity表性质，n.活动；活力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词根agog-“引导；煽动”：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词根act-“做；行动”：act-act-词根act-，即ac通ag“做”+t动词后缀，act-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activism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/ˈæktɪvɪzəm/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n.激进主义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activ(e)“活跃的”+ism表主义，n.激进主义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词根agog-“引导；煽动”：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词根act-“做；行动”：act-act-词根act-，即ac通ag“做”+t动词后缀，act-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activist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/ˈæktɪvɪst/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n.积极分子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activ(e)“活跃的”+ist表实践者，n.积极分子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词根agog-“引导；煽动”：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词根act-“做；行动”：act-act-词根act-，即ac通ag“做”+t动词后缀，act-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activate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/ˈæktɪveɪt/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v.激活；使活化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activ(e)“活跃的”+ate动词后缀，v.激活；使活化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词根agog-“引导；煽动”：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词根act-“做；行动”：act-act-词根act-，即ac通ag“做”+t动词后缀，act-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activation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/ˌæktɪˈveɪʃn/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n.活化作用；激活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activat(e) “使活化”+ion名词后缀，n.活化作用；激活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词根agog-“引导；煽动”：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词根act-“做；行动”：act-act-词根act-，即ac通ag“做”+t动词后缀，act-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reactivate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/riˈæktɪveɪt/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v.使再活化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re“再”+activate“使活化”，v.使再活化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词根agog-“引导；煽动”：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词根act-“做；行动”：act-act-词根act-，即ac通ag“做”+t动词后缀，act-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actus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/ˈæktəs/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n.行为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act“做；行动”+u“包含”+s复数，n.行为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词根agog-“引导；煽动”：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词根act-“做；行动”：act-act-词根act-，即ac通ag“做”+t动词后缀，act-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actual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/ˈæktʃuəl/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adj.实际的；事实上的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act“做”+u“包含”+al形容词后缀，adj.实际的；事实上的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词根agog-“引导；煽动”：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词根act-“做；行动”：act-act-词根act-，即ac通ag“做”+t动词后缀，act-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actually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/ˈæktʃuəli/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adv.实际上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actual“实际的”+ly副词后缀，adv.实际上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词根agog-“引导；煽动”：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词根act-“做；行动”：act-act-词根act-，即ac通ag“做”+t动词后缀，act-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enact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/ɪˈnækt/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v.制定；扮演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en“使；进入”+act“做；行动”，v.制定；扮演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词根agog-“引导；煽动”：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词根act-“做；行动”：act-act-词根act-，即ac通ag“做”+t动词后缀，act-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practise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/ˈpræktɪs/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v.实践；练习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pr(o)“向前”+act“做”+ise动词后缀，v.实践；练习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词根agog-“引导；煽动”：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词根act-“做；行动”：act-act-词根act-，即ac通ag“做”+t动词后缀，act-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practice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/ˈpræktɪs/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v.实践；练习n.实践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pr(o)“向前”+act“做”+ice动词后缀，v.实践；练习n.实践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词根agog-“引导；煽动”：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词根act-“做；行动”：act-act-词根act-，即ac通ag“做”+t动词后缀，act-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practical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/ˈpræktɪkl/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adj.切实可行的；实际的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prcatic（e）“实践”+al形容词后缀，adj.切实可行的；实际的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词根agog-“引导；煽动”：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词根act-“做；行动”：act-act-词根act-，即ac通ag“做”+t动词后缀，act-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react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/riˈækt/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v.作出反应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re “回；反”+act “做；行动”，v.作出反应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词根agog-“引导；煽动”：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词根act-“做；行动”：act-act-词根act-，即ac通ag“做”+t动词后缀，act-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reaction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/riˈækʃn/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n.反应；反动；反对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react“作出反应”+ion名词后缀，n.反应；反动；反对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词根agog-“引导；煽动”：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名词后缀-age表动作过程或状态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shortage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/ˈʃɔːtɪdʒ/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n.短缺；不足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short“短的”+age表状态，n.短缺；不足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词根agog-“引导；煽动”：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名词后缀-age表动作过程或状态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teenage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/ˈtiːneɪdʒ/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n.青少年时期（13-19岁）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teen“十”+age表状态，n.青少年时期（13-19岁）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词根agog-“引导；煽动”：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名词后缀-age表动作过程或状态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agog-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 “吆喝声”+g “go”+o “吆喝声”+g “go”，表示“引导；煽动”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词根agog-“引导；煽动”：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名词后缀-age表动作过程或状态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agog-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“领导人激励队伍时的叫喊声”，引申出“引导；煽动”等词义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词根agog-“引导；煽动”：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名词后缀-age表动作过程或状态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agog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/əˈɡɒɡ/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adj.兴奋的adv.热切地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agog“煽动”，adj.兴奋的adv.热切地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词根agog-“引导；煽动”：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名词后缀-age表动作过程或状态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demagogy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/ˈdeməɡɒɡi/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n.煽动民意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dem “人民”+agog “煽动”+y，n.煽动民意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词根agog-“引导；煽动”：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名词后缀-age表动作过程或状态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demagogue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/ˈdeməɡɒɡ/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n.政治煽动家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dem “人民”+agog “煽动”+u“包含”+e，n.政治煽动家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词根agog-“引导；煽动”：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名词后缀-age表动作过程或状态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hydragogue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/ˈhaɪdrəˌɡɒɡ/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n.利尿剂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hydr “水”+agog “引导”+ u“包含”+e，n.利尿剂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词根agog-“引导；煽动”：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名词后缀-age表动作过程或状态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mystagogy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/ˈmɪstəɡɒdʒi/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n.传授宗教奥秘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myst“神秘”+agog“引导”+y，n.传授宗教奥秘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词根agog-“引导；煽动”：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名词后缀-age表动作过程或状态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pedagogy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/ˈpedəɡɒdʒi/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n.教育学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ped（ia）“儿童”+agog “引导”+y，n.教育学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词根agog-“引导；煽动”：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名词后缀-age表动作过程或状态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synagogue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/ˈsɪnəɡɒɡ/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n.犹太人集会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syn“一起”+agog“引导”+u“包含”+e，n.犹太人集会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词根agog-“引导；煽动”：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名词后缀-age表动作过程或状态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ia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模拟“呻吟声”，作名词后缀-ia-ia表示“疾病”。-ia-ia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词根agog-“引导；煽动”：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名词后缀-age表动作过程或状态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abasia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/əˈbeɪzɪə/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n.失步行症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an&gt;a “not”+bas “走”+ia名词后缀表疾病，n.失步行症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词根agog-“引导；煽动”：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名词后缀-age表动作过程或状态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phobia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/ˈfəʊbiə/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n.恐惧症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phob “恐惧”+ia名词后缀表疾病，n.恐惧症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词根agog-“引导；煽动”：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UMMARY_TITLE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微软雅黑" panose="020B0503020204020204" charset="-122"/>
              </a:rPr>
              <a:t>Summary</a:t>
            </a:r>
            <a:endParaRPr sz="3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SUMMARY_UNIT_1"/>
          <p:cNvSpPr/>
          <p:nvPr/>
        </p:nvSpPr>
        <p:spPr>
          <a:xfrm>
            <a:off x="548640" y="1234440"/>
            <a:ext cx="3703320" cy="19202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意项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b="0">
                <a:solidFill>
                  <a:srgbClr val="3C3C3C"/>
                </a:solidFill>
                <a:latin typeface="微软雅黑" panose="020B0503020204020204" charset="-122"/>
              </a:rPr>
              <a:t>ag-, ag-</a:t>
            </a:r>
            <a:endParaRPr b="0">
              <a:solidFill>
                <a:srgbClr val="3C3C3C"/>
              </a:solidFill>
              <a:latin typeface="微软雅黑" panose="020B0503020204020204" charset="-122"/>
            </a:endParaRPr>
          </a:p>
        </p:txBody>
      </p:sp>
      <p:sp>
        <p:nvSpPr>
          <p:cNvPr id="3" name="SUMMARY_UNIT_2"/>
          <p:cNvSpPr/>
          <p:nvPr/>
        </p:nvSpPr>
        <p:spPr>
          <a:xfrm>
            <a:off x="4548225" y="1234440"/>
            <a:ext cx="3703320" cy="19202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词根ag-“吆喝；驱赶；做；行动”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b="0">
                <a:solidFill>
                  <a:srgbClr val="3C3C3C"/>
                </a:solidFill>
                <a:latin typeface="微软雅黑" panose="020B0503020204020204" charset="-122"/>
              </a:rPr>
              <a:t>agile, agility, agitate, agitation, agitator, agency, agent, coagent, agenda, agon, agon, agony</a:t>
            </a:r>
            <a:endParaRPr b="0">
              <a:solidFill>
                <a:srgbClr val="3C3C3C"/>
              </a:solidFill>
              <a:latin typeface="微软雅黑" panose="020B0503020204020204" charset="-122"/>
            </a:endParaRPr>
          </a:p>
        </p:txBody>
      </p:sp>
      <p:sp>
        <p:nvSpPr>
          <p:cNvPr id="3" name="SUMMARY_UNIT_3"/>
          <p:cNvSpPr/>
          <p:nvPr/>
        </p:nvSpPr>
        <p:spPr>
          <a:xfrm>
            <a:off x="8547810" y="1234440"/>
            <a:ext cx="3703320" cy="19202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词根act-“做；行动”：act-act-词根act-，即ac通ag“做”+t动词后缀，act-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b="0">
                <a:solidFill>
                  <a:srgbClr val="3C3C3C"/>
                </a:solidFill>
                <a:latin typeface="微软雅黑" panose="020B0503020204020204" charset="-122"/>
              </a:rPr>
              <a:t>act, action, actor, actress, active, actively, activity, activism, activist, activate, activation, reactivate, actus, actual, actually, enact, practise, practice, practical, react, reaction</a:t>
            </a:r>
            <a:endParaRPr b="0">
              <a:solidFill>
                <a:srgbClr val="3C3C3C"/>
              </a:solidFill>
              <a:latin typeface="微软雅黑" panose="020B0503020204020204" charset="-122"/>
            </a:endParaRPr>
          </a:p>
        </p:txBody>
      </p:sp>
      <p:sp>
        <p:nvSpPr>
          <p:cNvPr id="3" name="SUMMARY_UNIT_4"/>
          <p:cNvSpPr/>
          <p:nvPr/>
        </p:nvSpPr>
        <p:spPr>
          <a:xfrm>
            <a:off x="548640" y="3500323"/>
            <a:ext cx="3703320" cy="19202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名词后缀-age表动作过程或状态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b="0">
                <a:solidFill>
                  <a:srgbClr val="3C3C3C"/>
                </a:solidFill>
                <a:latin typeface="微软雅黑" panose="020B0503020204020204" charset="-122"/>
              </a:rPr>
              <a:t>shortage, teenage, agog-, agog-, agog, demagogy, demagogue, hydragogue, mystagogy, pedagogy, synagogue, ia, abasia, phobia</a:t>
            </a:r>
            <a:endParaRPr b="0">
              <a:solidFill>
                <a:srgbClr val="3C3C3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500.8,&quot;left&quot;:48,&quot;top&quot;:77.3,&quot;width&quot;:955.7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